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660"/>
  </p:normalViewPr>
  <p:slideViewPr>
    <p:cSldViewPr snapToGrid="0">
      <p:cViewPr varScale="1">
        <p:scale>
          <a:sx n="76" d="100"/>
          <a:sy n="76" d="100"/>
        </p:scale>
        <p:origin x="228"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235172-1D61-4B99-9684-9C05D2D3DD43}" type="datetimeFigureOut">
              <a:rPr lang="en-US" smtClean="0"/>
              <a:t>4/16/2026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E5A198-82E8-4950-874D-1C5FEF5D87EF}" type="slidenum">
              <a:rPr lang="en-US" smtClean="0"/>
              <a:t>‹#›</a:t>
            </a:fld>
            <a:endParaRPr lang="en-US"/>
          </a:p>
        </p:txBody>
      </p:sp>
    </p:spTree>
    <p:extLst>
      <p:ext uri="{BB962C8B-B14F-4D97-AF65-F5344CB8AC3E}">
        <p14:creationId xmlns:p14="http://schemas.microsoft.com/office/powerpoint/2010/main" val="5599711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9E5A198-82E8-4950-874D-1C5FEF5D87EF}" type="slidenum">
              <a:rPr lang="en-US" smtClean="0"/>
              <a:t>2</a:t>
            </a:fld>
            <a:endParaRPr lang="en-US"/>
          </a:p>
        </p:txBody>
      </p:sp>
    </p:spTree>
    <p:extLst>
      <p:ext uri="{BB962C8B-B14F-4D97-AF65-F5344CB8AC3E}">
        <p14:creationId xmlns:p14="http://schemas.microsoft.com/office/powerpoint/2010/main" val="37460032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418DFB14-67C6-4843-BD4A-5010E04839EA}"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2A6CDC-47AA-4664-94E6-E47588EC46E0}"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85972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18DFB14-67C6-4843-BD4A-5010E04839EA}"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2A6CDC-47AA-4664-94E6-E47588EC46E0}" type="slidenum">
              <a:rPr lang="en-US" smtClean="0"/>
              <a:t>‹#›</a:t>
            </a:fld>
            <a:endParaRPr lang="en-US"/>
          </a:p>
        </p:txBody>
      </p:sp>
    </p:spTree>
    <p:extLst>
      <p:ext uri="{BB962C8B-B14F-4D97-AF65-F5344CB8AC3E}">
        <p14:creationId xmlns:p14="http://schemas.microsoft.com/office/powerpoint/2010/main" val="3038501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18DFB14-67C6-4843-BD4A-5010E04839EA}"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2A6CDC-47AA-4664-94E6-E47588EC46E0}"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460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18DFB14-67C6-4843-BD4A-5010E04839EA}" type="datetimeFigureOut">
              <a:rPr lang="en-US" smtClean="0"/>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82A6CDC-47AA-4664-94E6-E47588EC46E0}" type="slidenum">
              <a:rPr lang="en-US" smtClean="0"/>
              <a:t>‹#›</a:t>
            </a:fld>
            <a:endParaRPr lang="en-US"/>
          </a:p>
        </p:txBody>
      </p:sp>
    </p:spTree>
    <p:extLst>
      <p:ext uri="{BB962C8B-B14F-4D97-AF65-F5344CB8AC3E}">
        <p14:creationId xmlns:p14="http://schemas.microsoft.com/office/powerpoint/2010/main" val="3768175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18DFB14-67C6-4843-BD4A-5010E04839EA}" type="datetimeFigureOut">
              <a:rPr lang="en-US" smtClean="0"/>
              <a:t>4/16/2026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82A6CDC-47AA-4664-94E6-E47588EC46E0}" type="slidenum">
              <a:rPr lang="en-US" smtClean="0"/>
              <a:t>‹#›</a:t>
            </a:fld>
            <a:endParaRPr lang="en-US"/>
          </a:p>
        </p:txBody>
      </p:sp>
    </p:spTree>
    <p:extLst>
      <p:ext uri="{BB962C8B-B14F-4D97-AF65-F5344CB8AC3E}">
        <p14:creationId xmlns:p14="http://schemas.microsoft.com/office/powerpoint/2010/main" val="181489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18DFB14-67C6-4843-BD4A-5010E04839EA}" type="datetimeFigureOut">
              <a:rPr lang="en-US" smtClean="0"/>
              <a:t>4/16/2026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82A6CDC-47AA-4664-94E6-E47588EC46E0}" type="slidenum">
              <a:rPr lang="en-US" smtClean="0"/>
              <a:t>‹#›</a:t>
            </a:fld>
            <a:endParaRPr lang="en-US"/>
          </a:p>
        </p:txBody>
      </p:sp>
    </p:spTree>
    <p:extLst>
      <p:ext uri="{BB962C8B-B14F-4D97-AF65-F5344CB8AC3E}">
        <p14:creationId xmlns:p14="http://schemas.microsoft.com/office/powerpoint/2010/main" val="8226890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8DFB14-67C6-4843-BD4A-5010E04839EA}" type="datetimeFigureOut">
              <a:rPr lang="en-US" smtClean="0"/>
              <a:t>4/16/2026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82A6CDC-47AA-4664-94E6-E47588EC46E0}" type="slidenum">
              <a:rPr lang="en-US" smtClean="0"/>
              <a:t>‹#›</a:t>
            </a:fld>
            <a:endParaRPr lang="en-US"/>
          </a:p>
        </p:txBody>
      </p:sp>
    </p:spTree>
    <p:extLst>
      <p:ext uri="{BB962C8B-B14F-4D97-AF65-F5344CB8AC3E}">
        <p14:creationId xmlns:p14="http://schemas.microsoft.com/office/powerpoint/2010/main" val="21236881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18DFB14-67C6-4843-BD4A-5010E04839EA}" type="datetimeFigureOut">
              <a:rPr lang="en-US" smtClean="0"/>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82A6CDC-47AA-4664-94E6-E47588EC46E0}" type="slidenum">
              <a:rPr lang="en-US" smtClean="0"/>
              <a:t>‹#›</a:t>
            </a:fld>
            <a:endParaRPr lang="en-US"/>
          </a:p>
        </p:txBody>
      </p:sp>
    </p:spTree>
    <p:extLst>
      <p:ext uri="{BB962C8B-B14F-4D97-AF65-F5344CB8AC3E}">
        <p14:creationId xmlns:p14="http://schemas.microsoft.com/office/powerpoint/2010/main" val="3778292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18DFB14-67C6-4843-BD4A-5010E04839EA}" type="datetimeFigureOut">
              <a:rPr lang="en-US" smtClean="0"/>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82A6CDC-47AA-4664-94E6-E47588EC46E0}"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8624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18DFB14-67C6-4843-BD4A-5010E04839EA}"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2A6CDC-47AA-4664-94E6-E47588EC46E0}" type="slidenum">
              <a:rPr lang="en-US" smtClean="0"/>
              <a:t>‹#›</a:t>
            </a:fld>
            <a:endParaRPr lang="en-US"/>
          </a:p>
        </p:txBody>
      </p:sp>
    </p:spTree>
    <p:extLst>
      <p:ext uri="{BB962C8B-B14F-4D97-AF65-F5344CB8AC3E}">
        <p14:creationId xmlns:p14="http://schemas.microsoft.com/office/powerpoint/2010/main" val="2939948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18DFB14-67C6-4843-BD4A-5010E04839EA}"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2A6CDC-47AA-4664-94E6-E47588EC46E0}"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223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18DFB14-67C6-4843-BD4A-5010E04839EA}"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2A6CDC-47AA-4664-94E6-E47588EC46E0}" type="slidenum">
              <a:rPr lang="en-US" smtClean="0"/>
              <a:t>‹#›</a:t>
            </a:fld>
            <a:endParaRPr lang="en-US"/>
          </a:p>
        </p:txBody>
      </p:sp>
    </p:spTree>
    <p:extLst>
      <p:ext uri="{BB962C8B-B14F-4D97-AF65-F5344CB8AC3E}">
        <p14:creationId xmlns:p14="http://schemas.microsoft.com/office/powerpoint/2010/main" val="36336299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75" y="609600"/>
            <a:ext cx="3935688"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18DFB14-67C6-4843-BD4A-5010E04839EA}" type="datetimeFigureOut">
              <a:rPr lang="en-US" smtClean="0"/>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82A6CDC-47AA-4664-94E6-E47588EC46E0}" type="slidenum">
              <a:rPr lang="en-US" smtClean="0"/>
              <a:t>‹#›</a:t>
            </a:fld>
            <a:endParaRPr lang="en-US"/>
          </a:p>
        </p:txBody>
      </p:sp>
    </p:spTree>
    <p:extLst>
      <p:ext uri="{BB962C8B-B14F-4D97-AF65-F5344CB8AC3E}">
        <p14:creationId xmlns:p14="http://schemas.microsoft.com/office/powerpoint/2010/main" val="34446859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418DFB14-67C6-4843-BD4A-5010E04839EA}" type="datetimeFigureOut">
              <a:rPr lang="en-US" smtClean="0"/>
              <a:t>4/16/2026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C82A6CDC-47AA-4664-94E6-E47588EC46E0}"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50230685"/>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6D178-7AB7-7F9F-E627-D5806430CEB2}"/>
              </a:ext>
            </a:extLst>
          </p:cNvPr>
          <p:cNvSpPr>
            <a:spLocks noGrp="1"/>
          </p:cNvSpPr>
          <p:nvPr>
            <p:ph type="ctrTitle"/>
          </p:nvPr>
        </p:nvSpPr>
        <p:spPr>
          <a:xfrm>
            <a:off x="457200" y="4960137"/>
            <a:ext cx="7134837" cy="1463040"/>
          </a:xfrm>
        </p:spPr>
        <p:txBody>
          <a:bodyPr>
            <a:normAutofit/>
          </a:bodyPr>
          <a:lstStyle/>
          <a:p>
            <a:pPr algn="ctr"/>
            <a:r>
              <a:rPr lang="en-US" sz="4000" b="1" dirty="0">
                <a:latin typeface="Garamond" panose="02020404030301010803" pitchFamily="18" charset="0"/>
              </a:rPr>
              <a:t>Data science with </a:t>
            </a:r>
            <a:r>
              <a:rPr lang="en-US" sz="6000" b="1" dirty="0">
                <a:latin typeface="Garamond" panose="02020404030301010803" pitchFamily="18" charset="0"/>
              </a:rPr>
              <a:t>R</a:t>
            </a:r>
          </a:p>
        </p:txBody>
      </p:sp>
      <p:sp>
        <p:nvSpPr>
          <p:cNvPr id="3" name="Subtitle 2">
            <a:extLst>
              <a:ext uri="{FF2B5EF4-FFF2-40B4-BE49-F238E27FC236}">
                <a16:creationId xmlns:a16="http://schemas.microsoft.com/office/drawing/2014/main" id="{B0E24EB4-0837-3214-4F25-C4ACD36283B6}"/>
              </a:ext>
            </a:extLst>
          </p:cNvPr>
          <p:cNvSpPr>
            <a:spLocks noGrp="1"/>
          </p:cNvSpPr>
          <p:nvPr>
            <p:ph type="subTitle" idx="1"/>
          </p:nvPr>
        </p:nvSpPr>
        <p:spPr>
          <a:xfrm>
            <a:off x="7661945" y="4960137"/>
            <a:ext cx="4530055" cy="1463040"/>
          </a:xfrm>
        </p:spPr>
        <p:txBody>
          <a:bodyPr>
            <a:normAutofit/>
          </a:bodyPr>
          <a:lstStyle/>
          <a:p>
            <a:r>
              <a:rPr lang="en-US" sz="3200" dirty="0">
                <a:solidFill>
                  <a:schemeClr val="tx1"/>
                </a:solidFill>
                <a:highlight>
                  <a:srgbClr val="FFFF00"/>
                </a:highlight>
                <a:latin typeface="Garamond" panose="02020404030301010803" pitchFamily="18" charset="0"/>
              </a:rPr>
              <a:t>FELIX OWUSU-ANSAH</a:t>
            </a:r>
          </a:p>
        </p:txBody>
      </p:sp>
    </p:spTree>
    <p:extLst>
      <p:ext uri="{BB962C8B-B14F-4D97-AF65-F5344CB8AC3E}">
        <p14:creationId xmlns:p14="http://schemas.microsoft.com/office/powerpoint/2010/main" val="2860434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4D859-15AC-A7BD-1C88-46F5A82CBECB}"/>
              </a:ext>
            </a:extLst>
          </p:cNvPr>
          <p:cNvSpPr>
            <a:spLocks noGrp="1"/>
          </p:cNvSpPr>
          <p:nvPr>
            <p:ph type="title"/>
          </p:nvPr>
        </p:nvSpPr>
        <p:spPr/>
        <p:txBody>
          <a:bodyPr>
            <a:normAutofit fontScale="90000"/>
          </a:bodyPr>
          <a:lstStyle/>
          <a:p>
            <a:br>
              <a:rPr lang="en-US" sz="4800" b="1" kern="100" dirty="0">
                <a:effectLst/>
                <a:latin typeface="Garamond" panose="02020404030301010803" pitchFamily="18" charset="0"/>
                <a:ea typeface="Calibri" panose="020F0502020204030204" pitchFamily="34" charset="0"/>
                <a:cs typeface="Times New Roman" panose="02020603050405020304" pitchFamily="18" charset="0"/>
              </a:rPr>
            </a:br>
            <a:r>
              <a:rPr lang="en-US" sz="4800" b="1" kern="100" dirty="0">
                <a:effectLst/>
                <a:latin typeface="Garamond" panose="02020404030301010803" pitchFamily="18" charset="0"/>
                <a:ea typeface="Calibri" panose="020F0502020204030204" pitchFamily="34" charset="0"/>
                <a:cs typeface="Times New Roman" panose="02020603050405020304" pitchFamily="18" charset="0"/>
              </a:rPr>
              <a:t>FOREST FIRES PROJECT</a:t>
            </a:r>
            <a:br>
              <a:rPr lang="en-US" sz="4800" kern="100" dirty="0">
                <a:effectLst/>
                <a:latin typeface="Garamond" panose="02020404030301010803" pitchFamily="18" charset="0"/>
                <a:ea typeface="Calibri" panose="020F0502020204030204" pitchFamily="34" charset="0"/>
                <a:cs typeface="Times New Roman" panose="02020603050405020304" pitchFamily="18" charset="0"/>
              </a:rPr>
            </a:br>
            <a:endParaRPr lang="en-US" sz="4800" dirty="0">
              <a:latin typeface="Garamond" panose="02020404030301010803" pitchFamily="18" charset="0"/>
            </a:endParaRPr>
          </a:p>
        </p:txBody>
      </p:sp>
      <p:sp>
        <p:nvSpPr>
          <p:cNvPr id="3" name="Content Placeholder 2">
            <a:extLst>
              <a:ext uri="{FF2B5EF4-FFF2-40B4-BE49-F238E27FC236}">
                <a16:creationId xmlns:a16="http://schemas.microsoft.com/office/drawing/2014/main" id="{160023FD-28E4-1044-F394-A7551D7E11DF}"/>
              </a:ext>
            </a:extLst>
          </p:cNvPr>
          <p:cNvSpPr>
            <a:spLocks noGrp="1"/>
          </p:cNvSpPr>
          <p:nvPr>
            <p:ph sz="quarter" idx="13"/>
          </p:nvPr>
        </p:nvSpPr>
        <p:spPr>
          <a:xfrm>
            <a:off x="768440" y="1716946"/>
            <a:ext cx="10363826" cy="3424107"/>
          </a:xfrm>
        </p:spPr>
        <p:txBody>
          <a:bodyPr/>
          <a:lstStyle/>
          <a:p>
            <a:pPr marL="0" indent="0" algn="ctr">
              <a:buNone/>
            </a:pPr>
            <a:r>
              <a:rPr lang="en-US" b="1" dirty="0">
                <a:latin typeface="Garamond" panose="02020404030301010803" pitchFamily="18" charset="0"/>
              </a:rPr>
              <a:t>About the Project</a:t>
            </a:r>
          </a:p>
          <a:p>
            <a:pPr marL="0" indent="0" algn="ctr">
              <a:buNone/>
            </a:pPr>
            <a:r>
              <a:rPr lang="en-US" sz="1800" b="1" i="1" kern="100" dirty="0">
                <a:effectLst/>
                <a:highlight>
                  <a:srgbClr val="FFFF00"/>
                </a:highlight>
                <a:latin typeface="Garamond" panose="02020404030301010803" pitchFamily="18" charset="0"/>
                <a:ea typeface="Calibri" panose="020F0502020204030204" pitchFamily="34" charset="0"/>
                <a:cs typeface="Times New Roman" panose="02020603050405020304" pitchFamily="18" charset="0"/>
              </a:rPr>
              <a:t>Predicting either fires occurring or fires not occurring in the forest in Algeria</a:t>
            </a:r>
          </a:p>
          <a:p>
            <a:pPr marL="0" indent="0" algn="just">
              <a:buNone/>
            </a:pPr>
            <a:r>
              <a:rPr lang="en-US" b="1" dirty="0">
                <a:latin typeface="Garamond" panose="02020404030301010803" pitchFamily="18" charset="0"/>
              </a:rPr>
              <a:t>The forest fire prediction project involves various data features and FWI (Fire Weather Index) components:</a:t>
            </a:r>
          </a:p>
        </p:txBody>
      </p:sp>
      <p:graphicFrame>
        <p:nvGraphicFramePr>
          <p:cNvPr id="4" name="Table 3">
            <a:extLst>
              <a:ext uri="{FF2B5EF4-FFF2-40B4-BE49-F238E27FC236}">
                <a16:creationId xmlns:a16="http://schemas.microsoft.com/office/drawing/2014/main" id="{847BE394-C36C-5633-82FF-4D6CDF28A15A}"/>
              </a:ext>
            </a:extLst>
          </p:cNvPr>
          <p:cNvGraphicFramePr>
            <a:graphicFrameLocks noGrp="1"/>
          </p:cNvGraphicFramePr>
          <p:nvPr>
            <p:extLst>
              <p:ext uri="{D42A27DB-BD31-4B8C-83A1-F6EECF244321}">
                <p14:modId xmlns:p14="http://schemas.microsoft.com/office/powerpoint/2010/main" val="3063617719"/>
              </p:ext>
            </p:extLst>
          </p:nvPr>
        </p:nvGraphicFramePr>
        <p:xfrm>
          <a:off x="5406264" y="3766144"/>
          <a:ext cx="6017296" cy="2892372"/>
        </p:xfrm>
        <a:graphic>
          <a:graphicData uri="http://schemas.openxmlformats.org/drawingml/2006/table">
            <a:tbl>
              <a:tblPr firstRow="1" bandRow="1">
                <a:tableStyleId>{5C22544A-7EE6-4342-B048-85BDC9FD1C3A}</a:tableStyleId>
              </a:tblPr>
              <a:tblGrid>
                <a:gridCol w="3008648">
                  <a:extLst>
                    <a:ext uri="{9D8B030D-6E8A-4147-A177-3AD203B41FA5}">
                      <a16:colId xmlns:a16="http://schemas.microsoft.com/office/drawing/2014/main" val="3601228657"/>
                    </a:ext>
                  </a:extLst>
                </a:gridCol>
                <a:gridCol w="3008648">
                  <a:extLst>
                    <a:ext uri="{9D8B030D-6E8A-4147-A177-3AD203B41FA5}">
                      <a16:colId xmlns:a16="http://schemas.microsoft.com/office/drawing/2014/main" val="2477199336"/>
                    </a:ext>
                  </a:extLst>
                </a:gridCol>
              </a:tblGrid>
              <a:tr h="375382">
                <a:tc>
                  <a:txBody>
                    <a:bodyPr/>
                    <a:lstStyle/>
                    <a:p>
                      <a:r>
                        <a:rPr lang="en-US" dirty="0"/>
                        <a:t>Data Features</a:t>
                      </a:r>
                    </a:p>
                  </a:txBody>
                  <a:tcPr/>
                </a:tc>
                <a:tc>
                  <a:txBody>
                    <a:bodyPr/>
                    <a:lstStyle/>
                    <a:p>
                      <a:r>
                        <a:rPr lang="en-US" dirty="0"/>
                        <a:t>FWI Components</a:t>
                      </a:r>
                    </a:p>
                  </a:txBody>
                  <a:tcPr/>
                </a:tc>
                <a:extLst>
                  <a:ext uri="{0D108BD9-81ED-4DB2-BD59-A6C34878D82A}">
                    <a16:rowId xmlns:a16="http://schemas.microsoft.com/office/drawing/2014/main" val="3751166053"/>
                  </a:ext>
                </a:extLst>
              </a:tr>
              <a:tr h="436367">
                <a:tc>
                  <a:txBody>
                    <a:bodyPr/>
                    <a:lstStyle/>
                    <a:p>
                      <a:r>
                        <a:rPr lang="en-US" sz="1800" kern="1200" dirty="0">
                          <a:solidFill>
                            <a:schemeClr val="dk1"/>
                          </a:solidFill>
                          <a:effectLst/>
                          <a:latin typeface="+mn-lt"/>
                          <a:ea typeface="+mn-ea"/>
                          <a:cs typeface="+mn-cs"/>
                        </a:rPr>
                        <a:t>Month</a:t>
                      </a:r>
                    </a:p>
                  </a:txBody>
                  <a:tcPr/>
                </a:tc>
                <a:tc>
                  <a:txBody>
                    <a:bodyPr/>
                    <a:lstStyle/>
                    <a:p>
                      <a:r>
                        <a:rPr lang="en-US" dirty="0"/>
                        <a:t>Fine Fuel Moisture Code (FFMC)</a:t>
                      </a:r>
                    </a:p>
                  </a:txBody>
                  <a:tcPr/>
                </a:tc>
                <a:extLst>
                  <a:ext uri="{0D108BD9-81ED-4DB2-BD59-A6C34878D82A}">
                    <a16:rowId xmlns:a16="http://schemas.microsoft.com/office/drawing/2014/main" val="1306772065"/>
                  </a:ext>
                </a:extLst>
              </a:tr>
              <a:tr h="375382">
                <a:tc>
                  <a:txBody>
                    <a:bodyPr/>
                    <a:lstStyle/>
                    <a:p>
                      <a:r>
                        <a:rPr lang="en-US" sz="1800" kern="1200" dirty="0">
                          <a:solidFill>
                            <a:schemeClr val="dk1"/>
                          </a:solidFill>
                          <a:effectLst/>
                          <a:latin typeface="+mn-lt"/>
                          <a:ea typeface="+mn-ea"/>
                          <a:cs typeface="+mn-cs"/>
                        </a:rPr>
                        <a:t>Day</a:t>
                      </a:r>
                    </a:p>
                  </a:txBody>
                  <a:tcPr/>
                </a:tc>
                <a:tc>
                  <a:txBody>
                    <a:bodyPr/>
                    <a:lstStyle/>
                    <a:p>
                      <a:r>
                        <a:rPr lang="en-US" dirty="0"/>
                        <a:t>Duff Moisture Code (DMC)</a:t>
                      </a:r>
                    </a:p>
                  </a:txBody>
                  <a:tcPr/>
                </a:tc>
                <a:extLst>
                  <a:ext uri="{0D108BD9-81ED-4DB2-BD59-A6C34878D82A}">
                    <a16:rowId xmlns:a16="http://schemas.microsoft.com/office/drawing/2014/main" val="2944376142"/>
                  </a:ext>
                </a:extLst>
              </a:tr>
              <a:tr h="375382">
                <a:tc>
                  <a:txBody>
                    <a:bodyPr/>
                    <a:lstStyle/>
                    <a:p>
                      <a:r>
                        <a:rPr lang="en-US" sz="1800" kern="1200" dirty="0">
                          <a:solidFill>
                            <a:schemeClr val="dk1"/>
                          </a:solidFill>
                          <a:effectLst/>
                          <a:latin typeface="+mn-lt"/>
                          <a:ea typeface="+mn-ea"/>
                          <a:cs typeface="+mn-cs"/>
                        </a:rPr>
                        <a:t>Temp</a:t>
                      </a:r>
                    </a:p>
                  </a:txBody>
                  <a:tcPr/>
                </a:tc>
                <a:tc>
                  <a:txBody>
                    <a:bodyPr/>
                    <a:lstStyle/>
                    <a:p>
                      <a:r>
                        <a:rPr lang="en-US" dirty="0"/>
                        <a:t>Drought Code (DC)</a:t>
                      </a:r>
                    </a:p>
                  </a:txBody>
                  <a:tcPr/>
                </a:tc>
                <a:extLst>
                  <a:ext uri="{0D108BD9-81ED-4DB2-BD59-A6C34878D82A}">
                    <a16:rowId xmlns:a16="http://schemas.microsoft.com/office/drawing/2014/main" val="1823862863"/>
                  </a:ext>
                </a:extLst>
              </a:tr>
              <a:tr h="375382">
                <a:tc>
                  <a:txBody>
                    <a:bodyPr/>
                    <a:lstStyle/>
                    <a:p>
                      <a:r>
                        <a:rPr lang="en-US" sz="1800" kern="1200" dirty="0">
                          <a:solidFill>
                            <a:schemeClr val="dk1"/>
                          </a:solidFill>
                          <a:effectLst/>
                          <a:latin typeface="+mn-lt"/>
                          <a:ea typeface="+mn-ea"/>
                          <a:cs typeface="+mn-cs"/>
                        </a:rPr>
                        <a:t>RH (Relative Humidity)</a:t>
                      </a:r>
                    </a:p>
                  </a:txBody>
                  <a:tcPr/>
                </a:tc>
                <a:tc>
                  <a:txBody>
                    <a:bodyPr/>
                    <a:lstStyle/>
                    <a:p>
                      <a:r>
                        <a:rPr lang="en-US" dirty="0"/>
                        <a:t>Initial Spread Index (ISI)</a:t>
                      </a:r>
                    </a:p>
                  </a:txBody>
                  <a:tcPr/>
                </a:tc>
                <a:extLst>
                  <a:ext uri="{0D108BD9-81ED-4DB2-BD59-A6C34878D82A}">
                    <a16:rowId xmlns:a16="http://schemas.microsoft.com/office/drawing/2014/main" val="162324275"/>
                  </a:ext>
                </a:extLst>
              </a:tr>
              <a:tr h="375382">
                <a:tc>
                  <a:txBody>
                    <a:bodyPr/>
                    <a:lstStyle/>
                    <a:p>
                      <a:r>
                        <a:rPr lang="en-US" sz="1800" kern="1200" dirty="0" err="1">
                          <a:solidFill>
                            <a:schemeClr val="dk1"/>
                          </a:solidFill>
                          <a:effectLst/>
                          <a:latin typeface="+mn-lt"/>
                          <a:ea typeface="+mn-ea"/>
                          <a:cs typeface="+mn-cs"/>
                        </a:rPr>
                        <a:t>Ws</a:t>
                      </a:r>
                      <a:r>
                        <a:rPr lang="en-US" sz="1800" kern="1200" dirty="0">
                          <a:solidFill>
                            <a:schemeClr val="dk1"/>
                          </a:solidFill>
                          <a:effectLst/>
                          <a:latin typeface="+mn-lt"/>
                          <a:ea typeface="+mn-ea"/>
                          <a:cs typeface="+mn-cs"/>
                        </a:rPr>
                        <a:t> (Wind Speed)</a:t>
                      </a:r>
                    </a:p>
                  </a:txBody>
                  <a:tcPr/>
                </a:tc>
                <a:tc>
                  <a:txBody>
                    <a:bodyPr/>
                    <a:lstStyle/>
                    <a:p>
                      <a:r>
                        <a:rPr lang="en-US" dirty="0"/>
                        <a:t>Buildup Index (BUI)</a:t>
                      </a:r>
                    </a:p>
                  </a:txBody>
                  <a:tcPr/>
                </a:tc>
                <a:extLst>
                  <a:ext uri="{0D108BD9-81ED-4DB2-BD59-A6C34878D82A}">
                    <a16:rowId xmlns:a16="http://schemas.microsoft.com/office/drawing/2014/main" val="3378923544"/>
                  </a:ext>
                </a:extLst>
              </a:tr>
              <a:tr h="3753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latin typeface="+mn-lt"/>
                          <a:ea typeface="+mn-ea"/>
                          <a:cs typeface="+mn-cs"/>
                        </a:rPr>
                        <a:t>Rain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Fire Weather Index (FWI)</a:t>
                      </a:r>
                    </a:p>
                  </a:txBody>
                  <a:tcPr/>
                </a:tc>
                <a:extLst>
                  <a:ext uri="{0D108BD9-81ED-4DB2-BD59-A6C34878D82A}">
                    <a16:rowId xmlns:a16="http://schemas.microsoft.com/office/drawing/2014/main" val="1411840329"/>
                  </a:ext>
                </a:extLst>
              </a:tr>
            </a:tbl>
          </a:graphicData>
        </a:graphic>
      </p:graphicFrame>
      <p:sp>
        <p:nvSpPr>
          <p:cNvPr id="6" name="TextBox 5">
            <a:extLst>
              <a:ext uri="{FF2B5EF4-FFF2-40B4-BE49-F238E27FC236}">
                <a16:creationId xmlns:a16="http://schemas.microsoft.com/office/drawing/2014/main" id="{4549D48F-33C1-AAB9-A951-81C9D5289AF4}"/>
              </a:ext>
            </a:extLst>
          </p:cNvPr>
          <p:cNvSpPr txBox="1"/>
          <p:nvPr/>
        </p:nvSpPr>
        <p:spPr>
          <a:xfrm>
            <a:off x="537692" y="3766144"/>
            <a:ext cx="4613857" cy="2585323"/>
          </a:xfrm>
          <a:prstGeom prst="rect">
            <a:avLst/>
          </a:prstGeom>
          <a:noFill/>
        </p:spPr>
        <p:txBody>
          <a:bodyPr wrap="square">
            <a:spAutoFit/>
          </a:bodyPr>
          <a:lstStyle/>
          <a:p>
            <a:pPr algn="ctr"/>
            <a:r>
              <a:rPr lang="en-US" b="1" dirty="0">
                <a:latin typeface="Garamond" panose="02020404030301010803" pitchFamily="18" charset="0"/>
              </a:rPr>
              <a:t>Outcome</a:t>
            </a:r>
          </a:p>
          <a:p>
            <a:pPr algn="just"/>
            <a:r>
              <a:rPr lang="en-US" dirty="0">
                <a:latin typeface="Garamond" panose="02020404030301010803" pitchFamily="18" charset="0"/>
              </a:rPr>
              <a:t>Fire: Indicates the presence of a forest fire.</a:t>
            </a:r>
          </a:p>
          <a:p>
            <a:pPr algn="just"/>
            <a:r>
              <a:rPr lang="en-US" dirty="0">
                <a:latin typeface="Garamond" panose="02020404030301010803" pitchFamily="18" charset="0"/>
              </a:rPr>
              <a:t>Not Fire: Indicates the absence of a forest fire. These features and indices help in building predictive models to assess and forecast the likelihood of forest fires. The models can analyze patterns and correlations within the data to predict fire occurrence, aiding in effective fire management and prevention strategies.</a:t>
            </a:r>
          </a:p>
        </p:txBody>
      </p:sp>
    </p:spTree>
    <p:extLst>
      <p:ext uri="{BB962C8B-B14F-4D97-AF65-F5344CB8AC3E}">
        <p14:creationId xmlns:p14="http://schemas.microsoft.com/office/powerpoint/2010/main" val="31967353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8BFFB-EFE9-DA0D-528A-68DBB4523C49}"/>
              </a:ext>
            </a:extLst>
          </p:cNvPr>
          <p:cNvSpPr>
            <a:spLocks noGrp="1"/>
          </p:cNvSpPr>
          <p:nvPr>
            <p:ph type="title"/>
          </p:nvPr>
        </p:nvSpPr>
        <p:spPr>
          <a:xfrm>
            <a:off x="1024127" y="585216"/>
            <a:ext cx="10871461" cy="1499616"/>
          </a:xfrm>
        </p:spPr>
        <p:txBody>
          <a:bodyPr>
            <a:noAutofit/>
          </a:bodyPr>
          <a:lstStyle/>
          <a:p>
            <a:pPr algn="ctr"/>
            <a:r>
              <a:rPr lang="en-US" sz="4000" b="1" dirty="0">
                <a:latin typeface="Garamond" panose="02020404030301010803" pitchFamily="18" charset="0"/>
              </a:rPr>
              <a:t>DATA PREPARATION, PRE-PROCESSING, AND FEATURE SELECTION</a:t>
            </a:r>
          </a:p>
        </p:txBody>
      </p:sp>
      <p:sp>
        <p:nvSpPr>
          <p:cNvPr id="3" name="Content Placeholder 2">
            <a:extLst>
              <a:ext uri="{FF2B5EF4-FFF2-40B4-BE49-F238E27FC236}">
                <a16:creationId xmlns:a16="http://schemas.microsoft.com/office/drawing/2014/main" id="{AD000599-176D-C523-E805-6E0E1B1AC489}"/>
              </a:ext>
            </a:extLst>
          </p:cNvPr>
          <p:cNvSpPr>
            <a:spLocks noGrp="1"/>
          </p:cNvSpPr>
          <p:nvPr>
            <p:ph sz="quarter" idx="13"/>
          </p:nvPr>
        </p:nvSpPr>
        <p:spPr/>
        <p:txBody>
          <a:bodyPr/>
          <a:lstStyle/>
          <a:p>
            <a:r>
              <a:rPr lang="en-US" b="1" dirty="0">
                <a:latin typeface="Garamond" panose="02020404030301010803" pitchFamily="18" charset="0"/>
              </a:rPr>
              <a:t>Missing item </a:t>
            </a:r>
            <a:r>
              <a:rPr lang="en-US" dirty="0">
                <a:latin typeface="Garamond" panose="02020404030301010803" pitchFamily="18" charset="0"/>
              </a:rPr>
              <a:t>: 0</a:t>
            </a:r>
          </a:p>
          <a:p>
            <a:r>
              <a:rPr lang="en-US" b="1" dirty="0">
                <a:latin typeface="Garamond" panose="02020404030301010803" pitchFamily="18" charset="0"/>
              </a:rPr>
              <a:t>Duplicates</a:t>
            </a:r>
            <a:r>
              <a:rPr lang="en-US" dirty="0">
                <a:latin typeface="Garamond" panose="02020404030301010803" pitchFamily="18" charset="0"/>
              </a:rPr>
              <a:t> : 0</a:t>
            </a:r>
          </a:p>
          <a:p>
            <a:pPr marL="0" indent="0" algn="ctr">
              <a:buNone/>
            </a:pPr>
            <a:r>
              <a:rPr lang="en-US" b="1" dirty="0">
                <a:latin typeface="Garamond" panose="02020404030301010803" pitchFamily="18" charset="0"/>
              </a:rPr>
              <a:t>Relevant feature targeted :</a:t>
            </a:r>
          </a:p>
          <a:p>
            <a:pPr marL="0" indent="0" algn="ctr">
              <a:buNone/>
            </a:pPr>
            <a:r>
              <a:rPr lang="en-US" b="1" i="1" dirty="0">
                <a:highlight>
                  <a:srgbClr val="FFFF00"/>
                </a:highlight>
                <a:latin typeface="Garamond" panose="02020404030301010803" pitchFamily="18" charset="0"/>
              </a:rPr>
              <a:t>month, FFMC, DMC, DC, ISI, Temperature, RH, wind, rain, outcome</a:t>
            </a:r>
          </a:p>
        </p:txBody>
      </p:sp>
    </p:spTree>
    <p:extLst>
      <p:ext uri="{BB962C8B-B14F-4D97-AF65-F5344CB8AC3E}">
        <p14:creationId xmlns:p14="http://schemas.microsoft.com/office/powerpoint/2010/main" val="19063188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1C014-3DE8-A3B8-B8AA-3C6C5599CD11}"/>
              </a:ext>
            </a:extLst>
          </p:cNvPr>
          <p:cNvSpPr>
            <a:spLocks noGrp="1"/>
          </p:cNvSpPr>
          <p:nvPr>
            <p:ph type="title"/>
          </p:nvPr>
        </p:nvSpPr>
        <p:spPr>
          <a:xfrm>
            <a:off x="1024128" y="494950"/>
            <a:ext cx="9638279" cy="2265028"/>
          </a:xfrm>
        </p:spPr>
        <p:txBody>
          <a:bodyPr>
            <a:normAutofit/>
          </a:bodyPr>
          <a:lstStyle/>
          <a:p>
            <a:pPr algn="ctr"/>
            <a:r>
              <a:rPr lang="en-US" sz="3600" b="1" dirty="0">
                <a:latin typeface="Garamond" panose="02020404030301010803" pitchFamily="18" charset="0"/>
              </a:rPr>
              <a:t>The models implemented in the project</a:t>
            </a:r>
          </a:p>
        </p:txBody>
      </p:sp>
      <p:sp>
        <p:nvSpPr>
          <p:cNvPr id="3" name="Content Placeholder 2">
            <a:extLst>
              <a:ext uri="{FF2B5EF4-FFF2-40B4-BE49-F238E27FC236}">
                <a16:creationId xmlns:a16="http://schemas.microsoft.com/office/drawing/2014/main" id="{957A8C39-AEB8-BA31-036B-F81E53FC3BD3}"/>
              </a:ext>
            </a:extLst>
          </p:cNvPr>
          <p:cNvSpPr>
            <a:spLocks noGrp="1"/>
          </p:cNvSpPr>
          <p:nvPr>
            <p:ph sz="quarter" idx="13"/>
          </p:nvPr>
        </p:nvSpPr>
        <p:spPr>
          <a:xfrm>
            <a:off x="914399" y="2978092"/>
            <a:ext cx="10363826" cy="2660709"/>
          </a:xfrm>
        </p:spPr>
        <p:txBody>
          <a:bodyPr/>
          <a:lstStyle/>
          <a:p>
            <a:endParaRPr lang="en-US" sz="1800" kern="100" dirty="0">
              <a:effectLst/>
              <a:latin typeface="Garamond" panose="02020404030301010803" pitchFamily="18" charset="0"/>
              <a:ea typeface="Calibri" panose="020F0502020204030204" pitchFamily="34" charset="0"/>
              <a:cs typeface="Times New Roman" panose="02020603050405020304" pitchFamily="18" charset="0"/>
            </a:endParaRPr>
          </a:p>
          <a:p>
            <a:endParaRPr lang="en-US" sz="1800" kern="100" dirty="0">
              <a:latin typeface="Garamond" panose="02020404030301010803" pitchFamily="18" charset="0"/>
              <a:ea typeface="Calibri" panose="020F0502020204030204" pitchFamily="34" charset="0"/>
              <a:cs typeface="Times New Roman" panose="02020603050405020304" pitchFamily="18" charset="0"/>
            </a:endParaRPr>
          </a:p>
          <a:p>
            <a:pPr algn="ct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Logistic Regression</a:t>
            </a:r>
          </a:p>
          <a:p>
            <a:pPr algn="ct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Linear Regression</a:t>
            </a:r>
          </a:p>
          <a:p>
            <a:pPr algn="ct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Decision Tree regression</a:t>
            </a:r>
          </a:p>
          <a:p>
            <a:endParaRPr lang="en-US" dirty="0">
              <a:latin typeface="Garamond" panose="02020404030301010803" pitchFamily="18" charset="0"/>
            </a:endParaRPr>
          </a:p>
        </p:txBody>
      </p:sp>
    </p:spTree>
    <p:extLst>
      <p:ext uri="{BB962C8B-B14F-4D97-AF65-F5344CB8AC3E}">
        <p14:creationId xmlns:p14="http://schemas.microsoft.com/office/powerpoint/2010/main" val="3345761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DEF333D-51CD-C9CE-653E-D57CFA547ECF}"/>
              </a:ext>
            </a:extLst>
          </p:cNvPr>
          <p:cNvSpPr>
            <a:spLocks noGrp="1"/>
          </p:cNvSpPr>
          <p:nvPr>
            <p:ph type="title"/>
          </p:nvPr>
        </p:nvSpPr>
        <p:spPr>
          <a:xfrm>
            <a:off x="840017" y="596247"/>
            <a:ext cx="3632825" cy="1577340"/>
          </a:xfrm>
        </p:spPr>
        <p:txBody>
          <a:bodyPr/>
          <a:lstStyle/>
          <a:p>
            <a:r>
              <a:rPr lang="en-US" b="1" dirty="0">
                <a:latin typeface="Garamond" panose="02020404030301010803" pitchFamily="18" charset="0"/>
              </a:rPr>
              <a:t>LOGISTICS REGRESSION</a:t>
            </a:r>
            <a:br>
              <a:rPr lang="en-US" dirty="0">
                <a:latin typeface="Garamond" panose="02020404030301010803" pitchFamily="18" charset="0"/>
              </a:rPr>
            </a:br>
            <a:endParaRPr lang="en-US" dirty="0">
              <a:latin typeface="Garamond" panose="02020404030301010803" pitchFamily="18" charset="0"/>
            </a:endParaRPr>
          </a:p>
        </p:txBody>
      </p:sp>
      <p:pic>
        <p:nvPicPr>
          <p:cNvPr id="7" name="Content Placeholder 6">
            <a:extLst>
              <a:ext uri="{FF2B5EF4-FFF2-40B4-BE49-F238E27FC236}">
                <a16:creationId xmlns:a16="http://schemas.microsoft.com/office/drawing/2014/main" id="{A3B21C1D-82DA-7085-21E3-A22657049F71}"/>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5651976" y="2173586"/>
            <a:ext cx="6199187" cy="4227213"/>
          </a:xfrm>
          <a:prstGeom prst="rect">
            <a:avLst/>
          </a:prstGeom>
        </p:spPr>
      </p:pic>
      <p:sp>
        <p:nvSpPr>
          <p:cNvPr id="5" name="Text Placeholder 4">
            <a:extLst>
              <a:ext uri="{FF2B5EF4-FFF2-40B4-BE49-F238E27FC236}">
                <a16:creationId xmlns:a16="http://schemas.microsoft.com/office/drawing/2014/main" id="{8A560D80-A555-6EE2-7A34-8339B9F72D25}"/>
              </a:ext>
            </a:extLst>
          </p:cNvPr>
          <p:cNvSpPr>
            <a:spLocks noGrp="1"/>
          </p:cNvSpPr>
          <p:nvPr>
            <p:ph type="body" sz="half" idx="2"/>
          </p:nvPr>
        </p:nvSpPr>
        <p:spPr>
          <a:xfrm>
            <a:off x="257165" y="1941886"/>
            <a:ext cx="5074920" cy="2974228"/>
          </a:xfrm>
        </p:spPr>
        <p:txBody>
          <a:bodyPr>
            <a:normAutofit lnSpcReduction="10000"/>
          </a:bodyPr>
          <a:lstStyle/>
          <a:p>
            <a:pPr marL="0" marR="0" algn="just">
              <a:lnSpc>
                <a:spcPct val="107000"/>
              </a:lnSpc>
              <a:spcBef>
                <a:spcPts val="0"/>
              </a:spcBef>
              <a:spcAft>
                <a:spcPts val="800"/>
              </a:spcAft>
            </a:pPr>
            <a:r>
              <a:rPr lang="en-US" sz="2000" b="1" kern="100" dirty="0">
                <a:effectLst/>
                <a:latin typeface="Garamond" panose="02020404030301010803" pitchFamily="18" charset="0"/>
                <a:ea typeface="Calibri" panose="020F0502020204030204" pitchFamily="34" charset="0"/>
                <a:cs typeface="Times New Roman" panose="02020603050405020304" pitchFamily="18" charset="0"/>
              </a:rPr>
              <a:t>PERFORMANCE METRICS</a:t>
            </a:r>
            <a:r>
              <a:rPr lang="en-US" sz="2000" b="1" kern="100" dirty="0">
                <a:latin typeface="Garamond" panose="02020404030301010803" pitchFamily="18" charset="0"/>
                <a:ea typeface="Calibri" panose="020F0502020204030204" pitchFamily="34" charset="0"/>
                <a:cs typeface="Times New Roman" panose="02020603050405020304" pitchFamily="18" charset="0"/>
              </a:rPr>
              <a:t> RESULTS</a:t>
            </a:r>
            <a:endParaRPr lang="en-US" sz="2000" b="1" kern="100" dirty="0">
              <a:effectLst/>
              <a:latin typeface="Garamond" panose="02020404030301010803" pitchFamily="18"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800"/>
              </a:spcAft>
              <a:buSzPts val="1000"/>
              <a:buFont typeface="Symbol" panose="05050102010706020507" pitchFamily="18" charset="2"/>
              <a:buChar char=""/>
              <a:tabLst>
                <a:tab pos="457200" algn="l"/>
              </a:tabLst>
            </a:pP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Accuracy:</a:t>
            </a: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 0.535 (53.5% of predictions are correct)</a:t>
            </a:r>
          </a:p>
          <a:p>
            <a:pPr marL="342900" marR="0" lvl="0" indent="-342900" algn="just">
              <a:lnSpc>
                <a:spcPct val="107000"/>
              </a:lnSpc>
              <a:spcBef>
                <a:spcPts val="0"/>
              </a:spcBef>
              <a:spcAft>
                <a:spcPts val="800"/>
              </a:spcAft>
              <a:buSzPts val="1000"/>
              <a:buFont typeface="Symbol" panose="05050102010706020507" pitchFamily="18" charset="2"/>
              <a:buChar char=""/>
              <a:tabLst>
                <a:tab pos="457200" algn="l"/>
              </a:tabLst>
            </a:pP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Sensitivity (Recall):</a:t>
            </a: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 0.373 (37.3% of actual fires are correctly identified)</a:t>
            </a:r>
          </a:p>
          <a:p>
            <a:pPr marL="342900" marR="0" lvl="0" indent="-342900" algn="just">
              <a:lnSpc>
                <a:spcPct val="107000"/>
              </a:lnSpc>
              <a:spcBef>
                <a:spcPts val="0"/>
              </a:spcBef>
              <a:spcAft>
                <a:spcPts val="800"/>
              </a:spcAft>
              <a:buSzPts val="1000"/>
              <a:buFont typeface="Symbol" panose="05050102010706020507" pitchFamily="18" charset="2"/>
              <a:buChar char=""/>
              <a:tabLst>
                <a:tab pos="457200" algn="l"/>
              </a:tabLst>
            </a:pP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Specificity:</a:t>
            </a: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 0.662 (66.2% of non-fire days are correctly identified)</a:t>
            </a:r>
          </a:p>
          <a:p>
            <a:pPr marL="342900" marR="0" lvl="0" indent="-342900" algn="just">
              <a:lnSpc>
                <a:spcPct val="107000"/>
              </a:lnSpc>
              <a:spcBef>
                <a:spcPts val="0"/>
              </a:spcBef>
              <a:spcAft>
                <a:spcPts val="800"/>
              </a:spcAft>
              <a:buSzPts val="1000"/>
              <a:buFont typeface="Symbol" panose="05050102010706020507" pitchFamily="18" charset="2"/>
              <a:buChar char=""/>
              <a:tabLst>
                <a:tab pos="457200" algn="l"/>
              </a:tabLst>
            </a:pP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ROC AUC:</a:t>
            </a: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 0.552 (The model has limited ability to distinguish between fire and no fire events)</a:t>
            </a:r>
          </a:p>
          <a:p>
            <a:pPr algn="just"/>
            <a:endParaRPr lang="en-US" dirty="0">
              <a:latin typeface="Garamond" panose="02020404030301010803" pitchFamily="18" charset="0"/>
            </a:endParaRPr>
          </a:p>
        </p:txBody>
      </p:sp>
      <p:graphicFrame>
        <p:nvGraphicFramePr>
          <p:cNvPr id="8" name="Table 7">
            <a:extLst>
              <a:ext uri="{FF2B5EF4-FFF2-40B4-BE49-F238E27FC236}">
                <a16:creationId xmlns:a16="http://schemas.microsoft.com/office/drawing/2014/main" id="{EA4E2044-D162-481B-1012-DFD880B17A5D}"/>
              </a:ext>
            </a:extLst>
          </p:cNvPr>
          <p:cNvGraphicFramePr>
            <a:graphicFrameLocks noGrp="1"/>
          </p:cNvGraphicFramePr>
          <p:nvPr>
            <p:extLst>
              <p:ext uri="{D42A27DB-BD31-4B8C-83A1-F6EECF244321}">
                <p14:modId xmlns:p14="http://schemas.microsoft.com/office/powerpoint/2010/main" val="3746621427"/>
              </p:ext>
            </p:extLst>
          </p:nvPr>
        </p:nvGraphicFramePr>
        <p:xfrm>
          <a:off x="5562600" y="398216"/>
          <a:ext cx="6377940" cy="1577340"/>
        </p:xfrm>
        <a:graphic>
          <a:graphicData uri="http://schemas.openxmlformats.org/drawingml/2006/table">
            <a:tbl>
              <a:tblPr firstRow="1" bandRow="1">
                <a:tableStyleId>{5C22544A-7EE6-4342-B048-85BDC9FD1C3A}</a:tableStyleId>
              </a:tblPr>
              <a:tblGrid>
                <a:gridCol w="2125980">
                  <a:extLst>
                    <a:ext uri="{9D8B030D-6E8A-4147-A177-3AD203B41FA5}">
                      <a16:colId xmlns:a16="http://schemas.microsoft.com/office/drawing/2014/main" val="3601434795"/>
                    </a:ext>
                  </a:extLst>
                </a:gridCol>
                <a:gridCol w="2125980">
                  <a:extLst>
                    <a:ext uri="{9D8B030D-6E8A-4147-A177-3AD203B41FA5}">
                      <a16:colId xmlns:a16="http://schemas.microsoft.com/office/drawing/2014/main" val="2054355883"/>
                    </a:ext>
                  </a:extLst>
                </a:gridCol>
                <a:gridCol w="2125980">
                  <a:extLst>
                    <a:ext uri="{9D8B030D-6E8A-4147-A177-3AD203B41FA5}">
                      <a16:colId xmlns:a16="http://schemas.microsoft.com/office/drawing/2014/main" val="2269804400"/>
                    </a:ext>
                  </a:extLst>
                </a:gridCol>
              </a:tblGrid>
              <a:tr h="525780">
                <a:tc>
                  <a:txBody>
                    <a:bodyPr/>
                    <a:lstStyle/>
                    <a:p>
                      <a:r>
                        <a:rPr lang="en-US" sz="2800" dirty="0">
                          <a:latin typeface="Garamond" panose="02020404030301010803" pitchFamily="18" charset="0"/>
                        </a:rPr>
                        <a:t>Conf. Matrix</a:t>
                      </a:r>
                    </a:p>
                  </a:txBody>
                  <a:tcPr/>
                </a:tc>
                <a:tc>
                  <a:txBody>
                    <a:bodyPr/>
                    <a:lstStyle/>
                    <a:p>
                      <a:r>
                        <a:rPr lang="en-US" sz="2800" dirty="0">
                          <a:latin typeface="Garamond" panose="02020404030301010803" pitchFamily="18" charset="0"/>
                        </a:rPr>
                        <a:t>POSITIVE</a:t>
                      </a:r>
                    </a:p>
                  </a:txBody>
                  <a:tcPr/>
                </a:tc>
                <a:tc>
                  <a:txBody>
                    <a:bodyPr/>
                    <a:lstStyle/>
                    <a:p>
                      <a:r>
                        <a:rPr lang="en-US" sz="2800" dirty="0">
                          <a:latin typeface="Garamond" panose="02020404030301010803" pitchFamily="18" charset="0"/>
                        </a:rPr>
                        <a:t>NEGATIVE</a:t>
                      </a:r>
                    </a:p>
                  </a:txBody>
                  <a:tcPr/>
                </a:tc>
                <a:extLst>
                  <a:ext uri="{0D108BD9-81ED-4DB2-BD59-A6C34878D82A}">
                    <a16:rowId xmlns:a16="http://schemas.microsoft.com/office/drawing/2014/main" val="3091215264"/>
                  </a:ext>
                </a:extLst>
              </a:tr>
              <a:tr h="525780">
                <a:tc>
                  <a:txBody>
                    <a:bodyPr/>
                    <a:lstStyle/>
                    <a:p>
                      <a:r>
                        <a:rPr lang="en-US" sz="2800" dirty="0">
                          <a:latin typeface="Garamond" panose="02020404030301010803" pitchFamily="18" charset="0"/>
                        </a:rPr>
                        <a:t>POSITIVE</a:t>
                      </a:r>
                    </a:p>
                  </a:txBody>
                  <a:tcPr/>
                </a:tc>
                <a:tc>
                  <a:txBody>
                    <a:bodyPr/>
                    <a:lstStyle/>
                    <a:p>
                      <a:r>
                        <a:rPr lang="en-US" sz="2800" dirty="0">
                          <a:latin typeface="Garamond" panose="02020404030301010803" pitchFamily="18" charset="0"/>
                        </a:rPr>
                        <a:t>137</a:t>
                      </a:r>
                    </a:p>
                  </a:txBody>
                  <a:tcPr/>
                </a:tc>
                <a:tc>
                  <a:txBody>
                    <a:bodyPr/>
                    <a:lstStyle/>
                    <a:p>
                      <a:r>
                        <a:rPr lang="en-US" sz="2800" dirty="0">
                          <a:latin typeface="Garamond" panose="02020404030301010803" pitchFamily="18" charset="0"/>
                        </a:rPr>
                        <a:t>70</a:t>
                      </a:r>
                    </a:p>
                  </a:txBody>
                  <a:tcPr/>
                </a:tc>
                <a:extLst>
                  <a:ext uri="{0D108BD9-81ED-4DB2-BD59-A6C34878D82A}">
                    <a16:rowId xmlns:a16="http://schemas.microsoft.com/office/drawing/2014/main" val="4041805925"/>
                  </a:ext>
                </a:extLst>
              </a:tr>
              <a:tr h="525780">
                <a:tc>
                  <a:txBody>
                    <a:bodyPr/>
                    <a:lstStyle/>
                    <a:p>
                      <a:r>
                        <a:rPr lang="en-US" sz="2800" dirty="0">
                          <a:latin typeface="Garamond" panose="02020404030301010803" pitchFamily="18" charset="0"/>
                        </a:rPr>
                        <a:t>NEGATIVE</a:t>
                      </a:r>
                    </a:p>
                  </a:txBody>
                  <a:tcPr/>
                </a:tc>
                <a:tc>
                  <a:txBody>
                    <a:bodyPr/>
                    <a:lstStyle/>
                    <a:p>
                      <a:r>
                        <a:rPr lang="en-US" sz="2800" dirty="0">
                          <a:latin typeface="Garamond" panose="02020404030301010803" pitchFamily="18" charset="0"/>
                        </a:rPr>
                        <a:t>101</a:t>
                      </a:r>
                    </a:p>
                  </a:txBody>
                  <a:tcPr/>
                </a:tc>
                <a:tc>
                  <a:txBody>
                    <a:bodyPr/>
                    <a:lstStyle/>
                    <a:p>
                      <a:r>
                        <a:rPr lang="en-US" sz="2800" dirty="0">
                          <a:latin typeface="Garamond" panose="02020404030301010803" pitchFamily="18" charset="0"/>
                        </a:rPr>
                        <a:t>60</a:t>
                      </a:r>
                    </a:p>
                  </a:txBody>
                  <a:tcPr/>
                </a:tc>
                <a:extLst>
                  <a:ext uri="{0D108BD9-81ED-4DB2-BD59-A6C34878D82A}">
                    <a16:rowId xmlns:a16="http://schemas.microsoft.com/office/drawing/2014/main" val="589438565"/>
                  </a:ext>
                </a:extLst>
              </a:tr>
            </a:tbl>
          </a:graphicData>
        </a:graphic>
      </p:graphicFrame>
      <p:sp>
        <p:nvSpPr>
          <p:cNvPr id="10" name="TextBox 9">
            <a:extLst>
              <a:ext uri="{FF2B5EF4-FFF2-40B4-BE49-F238E27FC236}">
                <a16:creationId xmlns:a16="http://schemas.microsoft.com/office/drawing/2014/main" id="{CA05BD4B-AABC-1FF6-B70F-1E8AE9D6A58A}"/>
              </a:ext>
            </a:extLst>
          </p:cNvPr>
          <p:cNvSpPr txBox="1"/>
          <p:nvPr/>
        </p:nvSpPr>
        <p:spPr>
          <a:xfrm>
            <a:off x="127625" y="4993264"/>
            <a:ext cx="5334000" cy="1268489"/>
          </a:xfrm>
          <a:prstGeom prst="rect">
            <a:avLst/>
          </a:prstGeom>
          <a:noFill/>
        </p:spPr>
        <p:txBody>
          <a:bodyPr wrap="square">
            <a:spAutoFit/>
          </a:bodyPr>
          <a:lstStyle/>
          <a:p>
            <a:pPr marL="0" marR="0" algn="just">
              <a:lnSpc>
                <a:spcPct val="107000"/>
              </a:lnSpc>
              <a:spcBef>
                <a:spcPts val="0"/>
              </a:spcBef>
              <a:spcAft>
                <a:spcPts val="800"/>
              </a:spcAft>
            </a:pP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The logistic regression model performs slightly better than random guessing. It is more effective at correctly identifying non-fire events than fire events, which is reflected in the higher specificity compared to sensitivity.</a:t>
            </a:r>
            <a:endParaRPr lang="en-US" sz="1400" kern="100" dirty="0">
              <a:effectLst/>
              <a:latin typeface="Garamond" panose="02020404030301010803"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4318952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2AEB1-51AD-9674-2842-6AACF458FCC0}"/>
              </a:ext>
            </a:extLst>
          </p:cNvPr>
          <p:cNvSpPr>
            <a:spLocks noGrp="1"/>
          </p:cNvSpPr>
          <p:nvPr>
            <p:ph type="title"/>
          </p:nvPr>
        </p:nvSpPr>
        <p:spPr>
          <a:xfrm>
            <a:off x="729217" y="1683041"/>
            <a:ext cx="3935688" cy="748717"/>
          </a:xfrm>
        </p:spPr>
        <p:txBody>
          <a:bodyPr>
            <a:normAutofit fontScale="90000"/>
          </a:bodyPr>
          <a:lstStyle/>
          <a:p>
            <a:br>
              <a:rPr lang="en-US" dirty="0"/>
            </a:br>
            <a:br>
              <a:rPr lang="en-US" dirty="0"/>
            </a:br>
            <a:br>
              <a:rPr lang="en-US" dirty="0"/>
            </a:br>
            <a:br>
              <a:rPr lang="en-US" dirty="0"/>
            </a:br>
            <a:br>
              <a:rPr lang="en-US" dirty="0"/>
            </a:br>
            <a:br>
              <a:rPr lang="en-US" dirty="0"/>
            </a:br>
            <a:br>
              <a:rPr lang="en-US" dirty="0"/>
            </a:br>
            <a:r>
              <a:rPr lang="en-US" b="1" dirty="0">
                <a:latin typeface="Garamond" panose="02020404030301010803" pitchFamily="18" charset="0"/>
              </a:rPr>
              <a:t>Linear regression</a:t>
            </a:r>
            <a:br>
              <a:rPr lang="en-US" dirty="0"/>
            </a:br>
            <a:br>
              <a:rPr lang="en-US" dirty="0"/>
            </a:br>
            <a:endParaRPr lang="en-US" dirty="0"/>
          </a:p>
        </p:txBody>
      </p:sp>
      <p:sp>
        <p:nvSpPr>
          <p:cNvPr id="3" name="Content Placeholder 2">
            <a:extLst>
              <a:ext uri="{FF2B5EF4-FFF2-40B4-BE49-F238E27FC236}">
                <a16:creationId xmlns:a16="http://schemas.microsoft.com/office/drawing/2014/main" id="{7C9D5399-67C4-5B2A-EC96-9F45663DFBF7}"/>
              </a:ext>
            </a:extLst>
          </p:cNvPr>
          <p:cNvSpPr>
            <a:spLocks noGrp="1"/>
          </p:cNvSpPr>
          <p:nvPr>
            <p:ph sz="quarter" idx="13"/>
          </p:nvPr>
        </p:nvSpPr>
        <p:spPr>
          <a:xfrm>
            <a:off x="6096000" y="609600"/>
            <a:ext cx="5842000" cy="5791200"/>
          </a:xfrm>
        </p:spPr>
        <p:txBody>
          <a:bodyPr/>
          <a:lstStyle/>
          <a:p>
            <a:pPr marL="0" indent="0">
              <a:buNone/>
            </a:pPr>
            <a:endParaRPr lang="en-US" sz="1800" kern="100" dirty="0">
              <a:effectLst/>
              <a:latin typeface="Garamond" panose="02020404030301010803" pitchFamily="18" charset="0"/>
              <a:ea typeface="Calibri" panose="020F0502020204030204" pitchFamily="34" charset="0"/>
              <a:cs typeface="Times New Roman" panose="02020603050405020304" pitchFamily="18" charset="0"/>
            </a:endParaRPr>
          </a:p>
          <a:p>
            <a:pPr marL="0" indent="0">
              <a:buNone/>
            </a:pPr>
            <a:endParaRPr lang="en-US" sz="1800" kern="100" dirty="0">
              <a:latin typeface="Garamond" panose="02020404030301010803" pitchFamily="18" charset="0"/>
              <a:ea typeface="Calibri" panose="020F0502020204030204" pitchFamily="34" charset="0"/>
              <a:cs typeface="Times New Roman" panose="02020603050405020304" pitchFamily="18" charset="0"/>
            </a:endParaRPr>
          </a:p>
          <a:p>
            <a:pPr marL="0" indent="0" algn="just">
              <a:buNone/>
            </a:pPr>
            <a:endParaRPr lang="en-US" sz="1800" kern="100" dirty="0">
              <a:effectLst/>
              <a:latin typeface="Garamond" panose="02020404030301010803" pitchFamily="18" charset="0"/>
              <a:ea typeface="Calibri" panose="020F0502020204030204" pitchFamily="34" charset="0"/>
              <a:cs typeface="Times New Roman" panose="02020603050405020304" pitchFamily="18" charset="0"/>
            </a:endParaRPr>
          </a:p>
          <a:p>
            <a:pPr marL="0" indent="0" algn="just">
              <a:buNone/>
            </a:pPr>
            <a:endParaRPr lang="en-US" sz="1800" kern="100" dirty="0">
              <a:latin typeface="Garamond" panose="02020404030301010803" pitchFamily="18" charset="0"/>
              <a:ea typeface="Calibri" panose="020F0502020204030204" pitchFamily="34" charset="0"/>
              <a:cs typeface="Times New Roman" panose="02020603050405020304" pitchFamily="18" charset="0"/>
            </a:endParaRPr>
          </a:p>
          <a:p>
            <a:pPr marL="0" indent="0" algn="just">
              <a:buNone/>
            </a:pP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The linear regression model shows a moderate level of prediction error and explains a very small proportion of the variance in fire occurrence. This suggests that the model might be underfitting and not capturing the underlying patterns in the data well.</a:t>
            </a:r>
          </a:p>
          <a:p>
            <a:endParaRPr lang="en-US" dirty="0">
              <a:latin typeface="Garamond" panose="02020404030301010803" pitchFamily="18" charset="0"/>
            </a:endParaRPr>
          </a:p>
        </p:txBody>
      </p:sp>
      <p:sp>
        <p:nvSpPr>
          <p:cNvPr id="4" name="Text Placeholder 3">
            <a:extLst>
              <a:ext uri="{FF2B5EF4-FFF2-40B4-BE49-F238E27FC236}">
                <a16:creationId xmlns:a16="http://schemas.microsoft.com/office/drawing/2014/main" id="{BBF58A3E-E2D4-B1B4-7460-43F99154852F}"/>
              </a:ext>
            </a:extLst>
          </p:cNvPr>
          <p:cNvSpPr>
            <a:spLocks noGrp="1"/>
          </p:cNvSpPr>
          <p:nvPr>
            <p:ph type="body" sz="half" idx="2"/>
          </p:nvPr>
        </p:nvSpPr>
        <p:spPr>
          <a:xfrm>
            <a:off x="254000" y="2057400"/>
            <a:ext cx="5537200" cy="4572000"/>
          </a:xfrm>
        </p:spPr>
        <p:txBody>
          <a:bodyPr>
            <a:normAutofit/>
          </a:bodyPr>
          <a:lstStyle/>
          <a:p>
            <a:r>
              <a:rPr lang="en-US" sz="2800" b="1" dirty="0">
                <a:latin typeface="Garamond" panose="02020404030301010803" pitchFamily="18" charset="0"/>
              </a:rPr>
              <a:t>Performance matrix result</a:t>
            </a:r>
          </a:p>
          <a:p>
            <a:endParaRPr lang="en-US" sz="2800" b="1" dirty="0">
              <a:latin typeface="Garamond" panose="02020404030301010803" pitchFamily="18" charset="0"/>
            </a:endParaRPr>
          </a:p>
          <a:p>
            <a:pPr marL="342900" marR="0" lvl="0" indent="-342900" algn="just">
              <a:lnSpc>
                <a:spcPct val="107000"/>
              </a:lnSpc>
              <a:spcBef>
                <a:spcPts val="0"/>
              </a:spcBef>
              <a:spcAft>
                <a:spcPts val="800"/>
              </a:spcAft>
              <a:buSzPts val="1000"/>
              <a:buFont typeface="Symbol" panose="05050102010706020507" pitchFamily="18" charset="2"/>
              <a:buChar char=""/>
              <a:tabLst>
                <a:tab pos="457200" algn="l"/>
              </a:tabLst>
            </a:pP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RMSE:</a:t>
            </a: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 0.585 (The root mean square error indicates the average difference between the predicted and actual values)</a:t>
            </a:r>
          </a:p>
          <a:p>
            <a:pPr marL="342900" marR="0" lvl="0" indent="-342900" algn="just">
              <a:lnSpc>
                <a:spcPct val="107000"/>
              </a:lnSpc>
              <a:spcBef>
                <a:spcPts val="0"/>
              </a:spcBef>
              <a:spcAft>
                <a:spcPts val="800"/>
              </a:spcAft>
              <a:buSzPts val="1000"/>
              <a:buFont typeface="Symbol" panose="05050102010706020507" pitchFamily="18" charset="2"/>
              <a:buChar char=""/>
              <a:tabLst>
                <a:tab pos="457200" algn="l"/>
              </a:tabLst>
            </a:pP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R-Squared:</a:t>
            </a: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 0.0851 (8.51% of the variance in the fire occurrence can be explained by the model)</a:t>
            </a:r>
          </a:p>
          <a:p>
            <a:endParaRPr lang="en-US" dirty="0"/>
          </a:p>
        </p:txBody>
      </p:sp>
    </p:spTree>
    <p:extLst>
      <p:ext uri="{BB962C8B-B14F-4D97-AF65-F5344CB8AC3E}">
        <p14:creationId xmlns:p14="http://schemas.microsoft.com/office/powerpoint/2010/main" val="37651500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71192-1759-0360-10E9-454E61B49FBD}"/>
              </a:ext>
            </a:extLst>
          </p:cNvPr>
          <p:cNvSpPr>
            <a:spLocks noGrp="1"/>
          </p:cNvSpPr>
          <p:nvPr>
            <p:ph type="title"/>
          </p:nvPr>
        </p:nvSpPr>
        <p:spPr>
          <a:xfrm>
            <a:off x="745995" y="1326093"/>
            <a:ext cx="3935688" cy="1121538"/>
          </a:xfrm>
        </p:spPr>
        <p:txBody>
          <a:bodyPr>
            <a:normAutofit fontScale="90000"/>
          </a:bodyPr>
          <a:lstStyle/>
          <a:p>
            <a:r>
              <a:rPr lang="en-US" b="1" dirty="0">
                <a:latin typeface="Garamond" panose="02020404030301010803" pitchFamily="18" charset="0"/>
              </a:rPr>
              <a:t>Decision tree regression</a:t>
            </a:r>
            <a:br>
              <a:rPr lang="en-US" dirty="0">
                <a:latin typeface="Garamond" panose="02020404030301010803" pitchFamily="18" charset="0"/>
              </a:rPr>
            </a:br>
            <a:br>
              <a:rPr lang="en-US" dirty="0">
                <a:latin typeface="Garamond" panose="02020404030301010803" pitchFamily="18" charset="0"/>
              </a:rPr>
            </a:br>
            <a:endParaRPr lang="en-US" dirty="0">
              <a:latin typeface="Garamond" panose="02020404030301010803" pitchFamily="18" charset="0"/>
            </a:endParaRPr>
          </a:p>
        </p:txBody>
      </p:sp>
      <p:pic>
        <p:nvPicPr>
          <p:cNvPr id="6" name="Content Placeholder 5">
            <a:extLst>
              <a:ext uri="{FF2B5EF4-FFF2-40B4-BE49-F238E27FC236}">
                <a16:creationId xmlns:a16="http://schemas.microsoft.com/office/drawing/2014/main" id="{28308044-F6B5-846A-3805-41EDDF6EFBAF}"/>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5226341" y="2447631"/>
            <a:ext cx="6420375" cy="4062226"/>
          </a:xfrm>
          <a:prstGeom prst="rect">
            <a:avLst/>
          </a:prstGeom>
        </p:spPr>
      </p:pic>
      <p:sp>
        <p:nvSpPr>
          <p:cNvPr id="4" name="Text Placeholder 3">
            <a:extLst>
              <a:ext uri="{FF2B5EF4-FFF2-40B4-BE49-F238E27FC236}">
                <a16:creationId xmlns:a16="http://schemas.microsoft.com/office/drawing/2014/main" id="{522E5C78-4CBC-3C1F-AD75-A719E7032835}"/>
              </a:ext>
            </a:extLst>
          </p:cNvPr>
          <p:cNvSpPr>
            <a:spLocks noGrp="1"/>
          </p:cNvSpPr>
          <p:nvPr>
            <p:ph type="body" sz="half" idx="2"/>
          </p:nvPr>
        </p:nvSpPr>
        <p:spPr>
          <a:xfrm>
            <a:off x="253998" y="1699261"/>
            <a:ext cx="4595463" cy="2971800"/>
          </a:xfrm>
        </p:spPr>
        <p:txBody>
          <a:bodyPr>
            <a:normAutofit fontScale="92500" lnSpcReduction="10000"/>
          </a:bodyPr>
          <a:lstStyle/>
          <a:p>
            <a:pPr marL="0" marR="0" algn="just">
              <a:lnSpc>
                <a:spcPct val="107000"/>
              </a:lnSpc>
              <a:spcBef>
                <a:spcPts val="0"/>
              </a:spcBef>
              <a:spcAft>
                <a:spcPts val="800"/>
              </a:spcAft>
            </a:pP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Performance metrics</a:t>
            </a:r>
            <a:r>
              <a:rPr lang="en-US" sz="1800" b="1" kern="100" dirty="0">
                <a:latin typeface="Garamond" panose="02020404030301010803" pitchFamily="18" charset="0"/>
                <a:ea typeface="Calibri" panose="020F0502020204030204" pitchFamily="34" charset="0"/>
                <a:cs typeface="Times New Roman" panose="02020603050405020304" pitchFamily="18" charset="0"/>
              </a:rPr>
              <a:t> result</a:t>
            </a:r>
            <a:endParaRPr lang="en-US" sz="1800" kern="100" dirty="0">
              <a:effectLst/>
              <a:latin typeface="Garamond" panose="02020404030301010803" pitchFamily="18"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800"/>
              </a:spcAft>
              <a:buSzPts val="1000"/>
              <a:buFont typeface="Symbol" panose="05050102010706020507" pitchFamily="18" charset="2"/>
              <a:buChar char=""/>
              <a:tabLst>
                <a:tab pos="457200" algn="l"/>
              </a:tabLst>
            </a:pP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Accuracy:</a:t>
            </a: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 0.587 (58.7% of predictions are correct)</a:t>
            </a:r>
          </a:p>
          <a:p>
            <a:pPr marL="342900" marR="0" lvl="0" indent="-342900" algn="just">
              <a:lnSpc>
                <a:spcPct val="107000"/>
              </a:lnSpc>
              <a:spcBef>
                <a:spcPts val="0"/>
              </a:spcBef>
              <a:spcAft>
                <a:spcPts val="800"/>
              </a:spcAft>
              <a:buSzPts val="1000"/>
              <a:buFont typeface="Symbol" panose="05050102010706020507" pitchFamily="18" charset="2"/>
              <a:buChar char=""/>
              <a:tabLst>
                <a:tab pos="457200" algn="l"/>
              </a:tabLst>
            </a:pP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Sensitivity (Recall):</a:t>
            </a: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 0.379 (37.9% of actual fires are correctly identified)</a:t>
            </a:r>
          </a:p>
          <a:p>
            <a:pPr marL="342900" marR="0" lvl="0" indent="-342900" algn="just">
              <a:lnSpc>
                <a:spcPct val="107000"/>
              </a:lnSpc>
              <a:spcBef>
                <a:spcPts val="0"/>
              </a:spcBef>
              <a:spcAft>
                <a:spcPts val="800"/>
              </a:spcAft>
              <a:buSzPts val="1000"/>
              <a:buFont typeface="Symbol" panose="05050102010706020507" pitchFamily="18" charset="2"/>
              <a:buChar char=""/>
              <a:tabLst>
                <a:tab pos="457200" algn="l"/>
              </a:tabLst>
            </a:pP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Specificity:</a:t>
            </a: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 0.749 (74.9% of non-fire days are correctly identified)</a:t>
            </a:r>
          </a:p>
          <a:p>
            <a:pPr marL="342900" marR="0" lvl="0" indent="-342900" algn="just">
              <a:lnSpc>
                <a:spcPct val="107000"/>
              </a:lnSpc>
              <a:spcBef>
                <a:spcPts val="0"/>
              </a:spcBef>
              <a:spcAft>
                <a:spcPts val="800"/>
              </a:spcAft>
              <a:buSzPts val="1000"/>
              <a:buFont typeface="Symbol" panose="05050102010706020507" pitchFamily="18" charset="2"/>
              <a:buChar char=""/>
              <a:tabLst>
                <a:tab pos="457200" algn="l"/>
              </a:tabLst>
            </a:pPr>
            <a:r>
              <a:rPr lang="en-US" sz="1800" b="1" kern="100" dirty="0">
                <a:effectLst/>
                <a:latin typeface="Garamond" panose="02020404030301010803" pitchFamily="18" charset="0"/>
                <a:ea typeface="Calibri" panose="020F0502020204030204" pitchFamily="34" charset="0"/>
                <a:cs typeface="Times New Roman" panose="02020603050405020304" pitchFamily="18" charset="0"/>
              </a:rPr>
              <a:t>ROC AUC:</a:t>
            </a: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 0.554 (The model has limited discriminative power)</a:t>
            </a:r>
          </a:p>
          <a:p>
            <a:endParaRPr lang="en-US" dirty="0">
              <a:latin typeface="Garamond" panose="02020404030301010803" pitchFamily="18" charset="0"/>
            </a:endParaRPr>
          </a:p>
        </p:txBody>
      </p:sp>
      <p:graphicFrame>
        <p:nvGraphicFramePr>
          <p:cNvPr id="5" name="Table 4">
            <a:extLst>
              <a:ext uri="{FF2B5EF4-FFF2-40B4-BE49-F238E27FC236}">
                <a16:creationId xmlns:a16="http://schemas.microsoft.com/office/drawing/2014/main" id="{C5583441-D335-B28D-37B1-0AA82B897492}"/>
              </a:ext>
            </a:extLst>
          </p:cNvPr>
          <p:cNvGraphicFramePr>
            <a:graphicFrameLocks noGrp="1"/>
          </p:cNvGraphicFramePr>
          <p:nvPr>
            <p:extLst>
              <p:ext uri="{D42A27DB-BD31-4B8C-83A1-F6EECF244321}">
                <p14:modId xmlns:p14="http://schemas.microsoft.com/office/powerpoint/2010/main" val="3045395352"/>
              </p:ext>
            </p:extLst>
          </p:nvPr>
        </p:nvGraphicFramePr>
        <p:xfrm>
          <a:off x="5079038" y="557532"/>
          <a:ext cx="6629400" cy="1577340"/>
        </p:xfrm>
        <a:graphic>
          <a:graphicData uri="http://schemas.openxmlformats.org/drawingml/2006/table">
            <a:tbl>
              <a:tblPr firstRow="1" bandRow="1">
                <a:tableStyleId>{5C22544A-7EE6-4342-B048-85BDC9FD1C3A}</a:tableStyleId>
              </a:tblPr>
              <a:tblGrid>
                <a:gridCol w="2209800">
                  <a:extLst>
                    <a:ext uri="{9D8B030D-6E8A-4147-A177-3AD203B41FA5}">
                      <a16:colId xmlns:a16="http://schemas.microsoft.com/office/drawing/2014/main" val="3601434795"/>
                    </a:ext>
                  </a:extLst>
                </a:gridCol>
                <a:gridCol w="2209800">
                  <a:extLst>
                    <a:ext uri="{9D8B030D-6E8A-4147-A177-3AD203B41FA5}">
                      <a16:colId xmlns:a16="http://schemas.microsoft.com/office/drawing/2014/main" val="2054355883"/>
                    </a:ext>
                  </a:extLst>
                </a:gridCol>
                <a:gridCol w="2209800">
                  <a:extLst>
                    <a:ext uri="{9D8B030D-6E8A-4147-A177-3AD203B41FA5}">
                      <a16:colId xmlns:a16="http://schemas.microsoft.com/office/drawing/2014/main" val="2269804400"/>
                    </a:ext>
                  </a:extLst>
                </a:gridCol>
              </a:tblGrid>
              <a:tr h="525780">
                <a:tc>
                  <a:txBody>
                    <a:bodyPr/>
                    <a:lstStyle/>
                    <a:p>
                      <a:r>
                        <a:rPr lang="en-US" sz="2800" dirty="0">
                          <a:latin typeface="Garamond" panose="02020404030301010803" pitchFamily="18" charset="0"/>
                        </a:rPr>
                        <a:t>Conf. Matrix</a:t>
                      </a:r>
                    </a:p>
                  </a:txBody>
                  <a:tcPr/>
                </a:tc>
                <a:tc>
                  <a:txBody>
                    <a:bodyPr/>
                    <a:lstStyle/>
                    <a:p>
                      <a:r>
                        <a:rPr lang="en-US" sz="2800" dirty="0">
                          <a:latin typeface="Garamond" panose="02020404030301010803" pitchFamily="18" charset="0"/>
                        </a:rPr>
                        <a:t>POSITIVE</a:t>
                      </a:r>
                    </a:p>
                  </a:txBody>
                  <a:tcPr/>
                </a:tc>
                <a:tc>
                  <a:txBody>
                    <a:bodyPr/>
                    <a:lstStyle/>
                    <a:p>
                      <a:r>
                        <a:rPr lang="en-US" sz="2800" dirty="0">
                          <a:latin typeface="Garamond" panose="02020404030301010803" pitchFamily="18" charset="0"/>
                        </a:rPr>
                        <a:t>NEGATIVE</a:t>
                      </a:r>
                    </a:p>
                  </a:txBody>
                  <a:tcPr/>
                </a:tc>
                <a:extLst>
                  <a:ext uri="{0D108BD9-81ED-4DB2-BD59-A6C34878D82A}">
                    <a16:rowId xmlns:a16="http://schemas.microsoft.com/office/drawing/2014/main" val="3091215264"/>
                  </a:ext>
                </a:extLst>
              </a:tr>
              <a:tr h="525780">
                <a:tc>
                  <a:txBody>
                    <a:bodyPr/>
                    <a:lstStyle/>
                    <a:p>
                      <a:r>
                        <a:rPr lang="en-US" sz="2800" dirty="0">
                          <a:latin typeface="Garamond" panose="02020404030301010803" pitchFamily="18" charset="0"/>
                        </a:rPr>
                        <a:t>POSITIVE</a:t>
                      </a:r>
                    </a:p>
                  </a:txBody>
                  <a:tcPr/>
                </a:tc>
                <a:tc>
                  <a:txBody>
                    <a:bodyPr/>
                    <a:lstStyle/>
                    <a:p>
                      <a:r>
                        <a:rPr lang="en-US" sz="2800" dirty="0">
                          <a:latin typeface="Garamond" panose="02020404030301010803" pitchFamily="18" charset="0"/>
                        </a:rPr>
                        <a:t>155</a:t>
                      </a:r>
                    </a:p>
                  </a:txBody>
                  <a:tcPr/>
                </a:tc>
                <a:tc>
                  <a:txBody>
                    <a:bodyPr/>
                    <a:lstStyle/>
                    <a:p>
                      <a:r>
                        <a:rPr lang="en-US" sz="2800" dirty="0">
                          <a:latin typeface="Garamond" panose="02020404030301010803" pitchFamily="18" charset="0"/>
                        </a:rPr>
                        <a:t>52</a:t>
                      </a:r>
                    </a:p>
                  </a:txBody>
                  <a:tcPr/>
                </a:tc>
                <a:extLst>
                  <a:ext uri="{0D108BD9-81ED-4DB2-BD59-A6C34878D82A}">
                    <a16:rowId xmlns:a16="http://schemas.microsoft.com/office/drawing/2014/main" val="4041805925"/>
                  </a:ext>
                </a:extLst>
              </a:tr>
              <a:tr h="525780">
                <a:tc>
                  <a:txBody>
                    <a:bodyPr/>
                    <a:lstStyle/>
                    <a:p>
                      <a:r>
                        <a:rPr lang="en-US" sz="2800" dirty="0">
                          <a:latin typeface="Garamond" panose="02020404030301010803" pitchFamily="18" charset="0"/>
                        </a:rPr>
                        <a:t>NEGATIVE</a:t>
                      </a:r>
                    </a:p>
                  </a:txBody>
                  <a:tcPr/>
                </a:tc>
                <a:tc>
                  <a:txBody>
                    <a:bodyPr/>
                    <a:lstStyle/>
                    <a:p>
                      <a:r>
                        <a:rPr lang="en-US" sz="2800" dirty="0">
                          <a:latin typeface="Garamond" panose="02020404030301010803" pitchFamily="18" charset="0"/>
                        </a:rPr>
                        <a:t>100</a:t>
                      </a:r>
                    </a:p>
                  </a:txBody>
                  <a:tcPr/>
                </a:tc>
                <a:tc>
                  <a:txBody>
                    <a:bodyPr/>
                    <a:lstStyle/>
                    <a:p>
                      <a:r>
                        <a:rPr lang="en-US" sz="2800" dirty="0">
                          <a:latin typeface="Garamond" panose="02020404030301010803" pitchFamily="18" charset="0"/>
                        </a:rPr>
                        <a:t>61</a:t>
                      </a:r>
                    </a:p>
                  </a:txBody>
                  <a:tcPr/>
                </a:tc>
                <a:extLst>
                  <a:ext uri="{0D108BD9-81ED-4DB2-BD59-A6C34878D82A}">
                    <a16:rowId xmlns:a16="http://schemas.microsoft.com/office/drawing/2014/main" val="589438565"/>
                  </a:ext>
                </a:extLst>
              </a:tr>
            </a:tbl>
          </a:graphicData>
        </a:graphic>
      </p:graphicFrame>
      <p:sp>
        <p:nvSpPr>
          <p:cNvPr id="8" name="TextBox 7">
            <a:extLst>
              <a:ext uri="{FF2B5EF4-FFF2-40B4-BE49-F238E27FC236}">
                <a16:creationId xmlns:a16="http://schemas.microsoft.com/office/drawing/2014/main" id="{DB45042A-E97D-2A5E-8976-F4A1B3DD2EB0}"/>
              </a:ext>
            </a:extLst>
          </p:cNvPr>
          <p:cNvSpPr txBox="1"/>
          <p:nvPr/>
        </p:nvSpPr>
        <p:spPr>
          <a:xfrm>
            <a:off x="126999" y="4448411"/>
            <a:ext cx="4849463" cy="2152256"/>
          </a:xfrm>
          <a:prstGeom prst="rect">
            <a:avLst/>
          </a:prstGeom>
          <a:noFill/>
        </p:spPr>
        <p:txBody>
          <a:bodyPr wrap="square">
            <a:spAutoFit/>
          </a:bodyPr>
          <a:lstStyle/>
          <a:p>
            <a:pPr marL="0" marR="0" algn="just">
              <a:lnSpc>
                <a:spcPct val="107000"/>
              </a:lnSpc>
              <a:spcBef>
                <a:spcPts val="0"/>
              </a:spcBef>
              <a:spcAft>
                <a:spcPts val="800"/>
              </a:spcAft>
            </a:pPr>
            <a:r>
              <a:rPr lang="en-US" sz="1800" kern="100" dirty="0">
                <a:effectLst/>
                <a:latin typeface="Garamond" panose="02020404030301010803" pitchFamily="18" charset="0"/>
                <a:ea typeface="Calibri" panose="020F0502020204030204" pitchFamily="34" charset="0"/>
                <a:cs typeface="Times New Roman" panose="02020603050405020304" pitchFamily="18" charset="0"/>
              </a:rPr>
              <a:t>The decision tree model outperforms logistic regression slightly in terms of accuracy and specificity. However, its sensitivity remains low, indicating a tendency to miss fire events. The ROC AUC value suggests the model's overall ability to distinguish between fire and no-fire events is still limited</a:t>
            </a:r>
            <a:endParaRPr lang="en-US" sz="1400" kern="100" dirty="0">
              <a:effectLst/>
              <a:latin typeface="Garamond" panose="02020404030301010803"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556739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E53E8A-884D-91E2-41D5-74403C1214DE}"/>
              </a:ext>
            </a:extLst>
          </p:cNvPr>
          <p:cNvSpPr>
            <a:spLocks noGrp="1"/>
          </p:cNvSpPr>
          <p:nvPr>
            <p:ph type="title"/>
          </p:nvPr>
        </p:nvSpPr>
        <p:spPr>
          <a:xfrm>
            <a:off x="2120587" y="533400"/>
            <a:ext cx="7950825" cy="1270000"/>
          </a:xfrm>
        </p:spPr>
        <p:txBody>
          <a:bodyPr/>
          <a:lstStyle/>
          <a:p>
            <a:r>
              <a:rPr lang="en-US" dirty="0">
                <a:latin typeface="Garamond" panose="02020404030301010803" pitchFamily="18" charset="0"/>
              </a:rPr>
              <a:t>PREDICTING DECISION TREE OUTCOME</a:t>
            </a:r>
          </a:p>
        </p:txBody>
      </p:sp>
      <p:pic>
        <p:nvPicPr>
          <p:cNvPr id="5" name="Content Placeholder 4">
            <a:extLst>
              <a:ext uri="{FF2B5EF4-FFF2-40B4-BE49-F238E27FC236}">
                <a16:creationId xmlns:a16="http://schemas.microsoft.com/office/drawing/2014/main" id="{4CADB2BA-09E5-D365-8E7F-99E96795A253}"/>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1016000" y="1803400"/>
            <a:ext cx="10363199" cy="4521200"/>
          </a:xfrm>
          <a:prstGeom prst="rect">
            <a:avLst/>
          </a:prstGeom>
        </p:spPr>
      </p:pic>
    </p:spTree>
    <p:extLst>
      <p:ext uri="{BB962C8B-B14F-4D97-AF65-F5344CB8AC3E}">
        <p14:creationId xmlns:p14="http://schemas.microsoft.com/office/powerpoint/2010/main" val="17667557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976BF0B-7581-E2A6-32EE-BC18C8E73D0E}"/>
              </a:ext>
            </a:extLst>
          </p:cNvPr>
          <p:cNvSpPr>
            <a:spLocks noGrp="1"/>
          </p:cNvSpPr>
          <p:nvPr>
            <p:ph type="title"/>
          </p:nvPr>
        </p:nvSpPr>
        <p:spPr/>
        <p:txBody>
          <a:bodyPr/>
          <a:lstStyle/>
          <a:p>
            <a:r>
              <a:rPr lang="en-US" b="1" dirty="0">
                <a:latin typeface="Garamond" panose="02020404030301010803" pitchFamily="18" charset="0"/>
              </a:rPr>
              <a:t>SUMMARY</a:t>
            </a:r>
          </a:p>
        </p:txBody>
      </p:sp>
      <p:sp>
        <p:nvSpPr>
          <p:cNvPr id="6" name="Content Placeholder 5">
            <a:extLst>
              <a:ext uri="{FF2B5EF4-FFF2-40B4-BE49-F238E27FC236}">
                <a16:creationId xmlns:a16="http://schemas.microsoft.com/office/drawing/2014/main" id="{17A3AF69-F997-E06D-4C14-7BBDA0AA1947}"/>
              </a:ext>
            </a:extLst>
          </p:cNvPr>
          <p:cNvSpPr>
            <a:spLocks noGrp="1"/>
          </p:cNvSpPr>
          <p:nvPr>
            <p:ph sz="quarter" idx="13"/>
          </p:nvPr>
        </p:nvSpPr>
        <p:spPr>
          <a:xfrm>
            <a:off x="913774" y="2006600"/>
            <a:ext cx="10363826" cy="4419600"/>
          </a:xfrm>
        </p:spPr>
        <p:txBody>
          <a:bodyPr>
            <a:normAutofit/>
          </a:bodyPr>
          <a:lstStyle/>
          <a:p>
            <a:pPr marL="0" marR="0" indent="0" algn="just">
              <a:lnSpc>
                <a:spcPct val="107000"/>
              </a:lnSpc>
              <a:spcBef>
                <a:spcPts val="0"/>
              </a:spcBef>
              <a:spcAft>
                <a:spcPts val="800"/>
              </a:spcAft>
              <a:buNone/>
            </a:pPr>
            <a:r>
              <a:rPr lang="en-US" sz="1600" b="1" kern="100" dirty="0">
                <a:effectLst/>
                <a:latin typeface="Garamond" panose="02020404030301010803" pitchFamily="18" charset="0"/>
                <a:ea typeface="Calibri" panose="020F0502020204030204" pitchFamily="34" charset="0"/>
                <a:cs typeface="Times New Roman" panose="02020603050405020304" pitchFamily="18" charset="0"/>
              </a:rPr>
              <a:t>Overall Assessment:</a:t>
            </a:r>
            <a:endParaRPr lang="en-US" sz="1600" kern="100" dirty="0">
              <a:effectLst/>
              <a:latin typeface="Garamond" panose="02020404030301010803" pitchFamily="18"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800"/>
              </a:spcAft>
              <a:buFont typeface="+mj-lt"/>
              <a:buAutoNum type="arabicPeriod"/>
              <a:tabLst>
                <a:tab pos="457200" algn="l"/>
              </a:tabLst>
            </a:pPr>
            <a:r>
              <a:rPr lang="en-US" sz="1600" b="1" kern="100" dirty="0">
                <a:effectLst/>
                <a:latin typeface="Garamond" panose="02020404030301010803" pitchFamily="18" charset="0"/>
                <a:ea typeface="Calibri" panose="020F0502020204030204" pitchFamily="34" charset="0"/>
                <a:cs typeface="Times New Roman" panose="02020603050405020304" pitchFamily="18" charset="0"/>
              </a:rPr>
              <a:t>Model Performance:</a:t>
            </a:r>
            <a:endParaRPr lang="en-US" sz="1600" kern="100" dirty="0">
              <a:effectLst/>
              <a:latin typeface="Garamond" panose="02020404030301010803" pitchFamily="18" charset="0"/>
              <a:ea typeface="Calibri" panose="020F0502020204030204" pitchFamily="34" charset="0"/>
              <a:cs typeface="Times New Roman" panose="02020603050405020304" pitchFamily="18" charset="0"/>
            </a:endParaRPr>
          </a:p>
          <a:p>
            <a:pPr marL="742950" marR="0" lvl="1" indent="-285750" algn="just">
              <a:lnSpc>
                <a:spcPct val="107000"/>
              </a:lnSpc>
              <a:spcBef>
                <a:spcPts val="0"/>
              </a:spcBef>
              <a:spcAft>
                <a:spcPts val="800"/>
              </a:spcAft>
              <a:buSzPts val="1000"/>
              <a:buFont typeface="Courier New" panose="02070309020205020404" pitchFamily="49" charset="0"/>
              <a:buChar char="o"/>
              <a:tabLst>
                <a:tab pos="914400" algn="l"/>
              </a:tabLst>
            </a:pPr>
            <a:r>
              <a:rPr lang="en-US" sz="1600" kern="100" dirty="0">
                <a:effectLst/>
                <a:latin typeface="Garamond" panose="02020404030301010803" pitchFamily="18" charset="0"/>
                <a:ea typeface="Calibri" panose="020F0502020204030204" pitchFamily="34" charset="0"/>
                <a:cs typeface="Times New Roman" panose="02020603050405020304" pitchFamily="18" charset="0"/>
              </a:rPr>
              <a:t>Both the logistic regression and decision tree models show moderate accuracy, with decision trees performing slightly better.</a:t>
            </a:r>
          </a:p>
          <a:p>
            <a:pPr marL="742950" marR="0" lvl="1" indent="-285750" algn="just">
              <a:lnSpc>
                <a:spcPct val="107000"/>
              </a:lnSpc>
              <a:spcBef>
                <a:spcPts val="0"/>
              </a:spcBef>
              <a:spcAft>
                <a:spcPts val="800"/>
              </a:spcAft>
              <a:buSzPts val="1000"/>
              <a:buFont typeface="Courier New" panose="02070309020205020404" pitchFamily="49" charset="0"/>
              <a:buChar char="o"/>
              <a:tabLst>
                <a:tab pos="914400" algn="l"/>
              </a:tabLst>
            </a:pPr>
            <a:r>
              <a:rPr lang="en-US" sz="1600" kern="100" dirty="0">
                <a:effectLst/>
                <a:latin typeface="Garamond" panose="02020404030301010803" pitchFamily="18" charset="0"/>
                <a:ea typeface="Calibri" panose="020F0502020204030204" pitchFamily="34" charset="0"/>
                <a:cs typeface="Times New Roman" panose="02020603050405020304" pitchFamily="18" charset="0"/>
              </a:rPr>
              <a:t>Sensitivity is low across both models, highlighting difficulties in correctly identifying fire events.</a:t>
            </a:r>
          </a:p>
          <a:p>
            <a:pPr marL="742950" marR="0" lvl="1" indent="-285750" algn="just">
              <a:lnSpc>
                <a:spcPct val="107000"/>
              </a:lnSpc>
              <a:spcBef>
                <a:spcPts val="0"/>
              </a:spcBef>
              <a:spcAft>
                <a:spcPts val="800"/>
              </a:spcAft>
              <a:buSzPts val="1000"/>
              <a:buFont typeface="Courier New" panose="02070309020205020404" pitchFamily="49" charset="0"/>
              <a:buChar char="o"/>
              <a:tabLst>
                <a:tab pos="914400" algn="l"/>
              </a:tabLst>
            </a:pPr>
            <a:r>
              <a:rPr lang="en-US" sz="1600" kern="100" dirty="0">
                <a:effectLst/>
                <a:latin typeface="Garamond" panose="02020404030301010803" pitchFamily="18" charset="0"/>
                <a:ea typeface="Calibri" panose="020F0502020204030204" pitchFamily="34" charset="0"/>
                <a:cs typeface="Times New Roman" panose="02020603050405020304" pitchFamily="18" charset="0"/>
              </a:rPr>
              <a:t>Specificity is relatively higher, particularly for the decision tree, indicating a better performance in correctly identifying non-fire events.</a:t>
            </a:r>
          </a:p>
          <a:p>
            <a:pPr marL="742950" marR="0" lvl="1" indent="-285750" algn="just">
              <a:lnSpc>
                <a:spcPct val="107000"/>
              </a:lnSpc>
              <a:spcBef>
                <a:spcPts val="0"/>
              </a:spcBef>
              <a:spcAft>
                <a:spcPts val="800"/>
              </a:spcAft>
              <a:buSzPts val="1000"/>
              <a:buFont typeface="Courier New" panose="02070309020205020404" pitchFamily="49" charset="0"/>
              <a:buChar char="o"/>
              <a:tabLst>
                <a:tab pos="914400" algn="l"/>
              </a:tabLst>
            </a:pPr>
            <a:r>
              <a:rPr lang="en-US" sz="1600" kern="100" dirty="0">
                <a:effectLst/>
                <a:latin typeface="Garamond" panose="02020404030301010803" pitchFamily="18" charset="0"/>
                <a:ea typeface="Calibri" panose="020F0502020204030204" pitchFamily="34" charset="0"/>
                <a:cs typeface="Times New Roman" panose="02020603050405020304" pitchFamily="18" charset="0"/>
              </a:rPr>
              <a:t>ROC AUC values close to 0.55 for both models suggest limited discriminative power.</a:t>
            </a:r>
          </a:p>
          <a:p>
            <a:pPr marL="342900" marR="0" lvl="0" indent="-342900" algn="just">
              <a:lnSpc>
                <a:spcPct val="107000"/>
              </a:lnSpc>
              <a:spcBef>
                <a:spcPts val="0"/>
              </a:spcBef>
              <a:spcAft>
                <a:spcPts val="800"/>
              </a:spcAft>
              <a:buFont typeface="+mj-lt"/>
              <a:buAutoNum type="arabicPeriod"/>
              <a:tabLst>
                <a:tab pos="457200" algn="l"/>
              </a:tabLst>
            </a:pPr>
            <a:r>
              <a:rPr lang="en-US" sz="1600" b="1" kern="100" dirty="0">
                <a:effectLst/>
                <a:latin typeface="Garamond" panose="02020404030301010803" pitchFamily="18" charset="0"/>
                <a:ea typeface="Calibri" panose="020F0502020204030204" pitchFamily="34" charset="0"/>
                <a:cs typeface="Times New Roman" panose="02020603050405020304" pitchFamily="18" charset="0"/>
              </a:rPr>
              <a:t>Linear Regression:</a:t>
            </a:r>
            <a:endParaRPr lang="en-US" sz="1600" kern="100" dirty="0">
              <a:effectLst/>
              <a:latin typeface="Garamond" panose="02020404030301010803" pitchFamily="18" charset="0"/>
              <a:ea typeface="Calibri" panose="020F0502020204030204" pitchFamily="34" charset="0"/>
              <a:cs typeface="Times New Roman" panose="02020603050405020304" pitchFamily="18" charset="0"/>
            </a:endParaRPr>
          </a:p>
          <a:p>
            <a:pPr marL="742950" marR="0" lvl="1" indent="-285750" algn="just">
              <a:lnSpc>
                <a:spcPct val="107000"/>
              </a:lnSpc>
              <a:spcBef>
                <a:spcPts val="0"/>
              </a:spcBef>
              <a:spcAft>
                <a:spcPts val="800"/>
              </a:spcAft>
              <a:buSzPts val="1000"/>
              <a:buFont typeface="Courier New" panose="02070309020205020404" pitchFamily="49" charset="0"/>
              <a:buChar char="o"/>
              <a:tabLst>
                <a:tab pos="914400" algn="l"/>
              </a:tabLst>
            </a:pPr>
            <a:r>
              <a:rPr lang="en-US" sz="1600" kern="100" dirty="0">
                <a:effectLst/>
                <a:latin typeface="Garamond" panose="02020404030301010803" pitchFamily="18" charset="0"/>
                <a:ea typeface="Calibri" panose="020F0502020204030204" pitchFamily="34" charset="0"/>
                <a:cs typeface="Times New Roman" panose="02020603050405020304" pitchFamily="18" charset="0"/>
              </a:rPr>
              <a:t>The linear regression model exhibits a moderate level of error (RMSE) and explains only a small proportion of the variance (R-Squared), indicating underfitting.</a:t>
            </a:r>
          </a:p>
          <a:p>
            <a:endParaRPr lang="en-US" dirty="0"/>
          </a:p>
        </p:txBody>
      </p:sp>
    </p:spTree>
    <p:extLst>
      <p:ext uri="{BB962C8B-B14F-4D97-AF65-F5344CB8AC3E}">
        <p14:creationId xmlns:p14="http://schemas.microsoft.com/office/powerpoint/2010/main" val="405073029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Integral</Template>
  <TotalTime>67</TotalTime>
  <Words>652</Words>
  <Application>Microsoft Office PowerPoint</Application>
  <PresentationFormat>Widescreen</PresentationFormat>
  <Paragraphs>87</Paragraphs>
  <Slides>9</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Calibri</vt:lpstr>
      <vt:lpstr>Courier New</vt:lpstr>
      <vt:lpstr>Garamond</vt:lpstr>
      <vt:lpstr>Symbol</vt:lpstr>
      <vt:lpstr>Tw Cen MT</vt:lpstr>
      <vt:lpstr>Tw Cen MT Condensed</vt:lpstr>
      <vt:lpstr>Wingdings 3</vt:lpstr>
      <vt:lpstr>Integral</vt:lpstr>
      <vt:lpstr>Data science with R</vt:lpstr>
      <vt:lpstr> FOREST FIRES PROJECT </vt:lpstr>
      <vt:lpstr>DATA PREPARATION, PRE-PROCESSING, AND FEATURE SELECTION</vt:lpstr>
      <vt:lpstr>The models implemented in the project</vt:lpstr>
      <vt:lpstr>LOGISTICS REGRESSION </vt:lpstr>
      <vt:lpstr>       Linear regression  </vt:lpstr>
      <vt:lpstr>Decision tree regression  </vt:lpstr>
      <vt:lpstr>PREDICTING DECISION TREE OUTCOME</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Felix Owusu</dc:creator>
  <cp:lastModifiedBy>Felix Owusu-Ansah</cp:lastModifiedBy>
  <cp:revision>2</cp:revision>
  <dcterms:created xsi:type="dcterms:W3CDTF">2024-08-02T13:58:02Z</dcterms:created>
  <dcterms:modified xsi:type="dcterms:W3CDTF">2026-04-16T20:23:38Z</dcterms:modified>
</cp:coreProperties>
</file>