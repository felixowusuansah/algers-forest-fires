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2"/>
  </p:notesMasterIdLst>
  <p:sldIdLst>
    <p:sldId id="256" r:id="rId2"/>
    <p:sldId id="257" r:id="rId3"/>
    <p:sldId id="258" r:id="rId4"/>
    <p:sldId id="259" r:id="rId5"/>
    <p:sldId id="260" r:id="rId6"/>
    <p:sldId id="262" r:id="rId7"/>
    <p:sldId id="263" r:id="rId8"/>
    <p:sldId id="261"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76" d="100"/>
          <a:sy n="76" d="100"/>
        </p:scale>
        <p:origin x="22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235172-1D61-4B99-9684-9C05D2D3DD43}" type="datetimeFigureOut">
              <a:rPr lang="en-US" smtClean="0"/>
              <a:t>4/17/2026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E5A198-82E8-4950-874D-1C5FEF5D87EF}" type="slidenum">
              <a:rPr lang="en-US" smtClean="0"/>
              <a:t>‹#›</a:t>
            </a:fld>
            <a:endParaRPr lang="en-US"/>
          </a:p>
        </p:txBody>
      </p:sp>
    </p:spTree>
    <p:extLst>
      <p:ext uri="{BB962C8B-B14F-4D97-AF65-F5344CB8AC3E}">
        <p14:creationId xmlns:p14="http://schemas.microsoft.com/office/powerpoint/2010/main" val="559971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E5A198-82E8-4950-874D-1C5FEF5D87EF}" type="slidenum">
              <a:rPr lang="en-US" smtClean="0"/>
              <a:t>2</a:t>
            </a:fld>
            <a:endParaRPr lang="en-US"/>
          </a:p>
        </p:txBody>
      </p:sp>
    </p:spTree>
    <p:extLst>
      <p:ext uri="{BB962C8B-B14F-4D97-AF65-F5344CB8AC3E}">
        <p14:creationId xmlns:p14="http://schemas.microsoft.com/office/powerpoint/2010/main" val="37460032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418DFB14-67C6-4843-BD4A-5010E04839EA}"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2A6CDC-47AA-4664-94E6-E47588EC46E0}"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8597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8DFB14-67C6-4843-BD4A-5010E04839EA}"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2A6CDC-47AA-4664-94E6-E47588EC46E0}" type="slidenum">
              <a:rPr lang="en-US" smtClean="0"/>
              <a:t>‹#›</a:t>
            </a:fld>
            <a:endParaRPr lang="en-US"/>
          </a:p>
        </p:txBody>
      </p:sp>
    </p:spTree>
    <p:extLst>
      <p:ext uri="{BB962C8B-B14F-4D97-AF65-F5344CB8AC3E}">
        <p14:creationId xmlns:p14="http://schemas.microsoft.com/office/powerpoint/2010/main" val="3038501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8DFB14-67C6-4843-BD4A-5010E04839EA}"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2A6CDC-47AA-4664-94E6-E47588EC46E0}"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460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18DFB14-67C6-4843-BD4A-5010E04839EA}"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2A6CDC-47AA-4664-94E6-E47588EC46E0}" type="slidenum">
              <a:rPr lang="en-US" smtClean="0"/>
              <a:t>‹#›</a:t>
            </a:fld>
            <a:endParaRPr lang="en-US"/>
          </a:p>
        </p:txBody>
      </p:sp>
    </p:spTree>
    <p:extLst>
      <p:ext uri="{BB962C8B-B14F-4D97-AF65-F5344CB8AC3E}">
        <p14:creationId xmlns:p14="http://schemas.microsoft.com/office/powerpoint/2010/main" val="3768175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18DFB14-67C6-4843-BD4A-5010E04839EA}" type="datetimeFigureOut">
              <a:rPr lang="en-US" smtClean="0"/>
              <a:t>4/17/2026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82A6CDC-47AA-4664-94E6-E47588EC46E0}" type="slidenum">
              <a:rPr lang="en-US" smtClean="0"/>
              <a:t>‹#›</a:t>
            </a:fld>
            <a:endParaRPr lang="en-US"/>
          </a:p>
        </p:txBody>
      </p:sp>
    </p:spTree>
    <p:extLst>
      <p:ext uri="{BB962C8B-B14F-4D97-AF65-F5344CB8AC3E}">
        <p14:creationId xmlns:p14="http://schemas.microsoft.com/office/powerpoint/2010/main" val="18148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18DFB14-67C6-4843-BD4A-5010E04839EA}" type="datetimeFigureOut">
              <a:rPr lang="en-US" smtClean="0"/>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82A6CDC-47AA-4664-94E6-E47588EC46E0}" type="slidenum">
              <a:rPr lang="en-US" smtClean="0"/>
              <a:t>‹#›</a:t>
            </a:fld>
            <a:endParaRPr lang="en-US"/>
          </a:p>
        </p:txBody>
      </p:sp>
    </p:spTree>
    <p:extLst>
      <p:ext uri="{BB962C8B-B14F-4D97-AF65-F5344CB8AC3E}">
        <p14:creationId xmlns:p14="http://schemas.microsoft.com/office/powerpoint/2010/main" val="8226890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8DFB14-67C6-4843-BD4A-5010E04839EA}" type="datetimeFigureOut">
              <a:rPr lang="en-US" smtClean="0"/>
              <a:t>4/17/2026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82A6CDC-47AA-4664-94E6-E47588EC46E0}" type="slidenum">
              <a:rPr lang="en-US" smtClean="0"/>
              <a:t>‹#›</a:t>
            </a:fld>
            <a:endParaRPr lang="en-US"/>
          </a:p>
        </p:txBody>
      </p:sp>
    </p:spTree>
    <p:extLst>
      <p:ext uri="{BB962C8B-B14F-4D97-AF65-F5344CB8AC3E}">
        <p14:creationId xmlns:p14="http://schemas.microsoft.com/office/powerpoint/2010/main" val="21236881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8DFB14-67C6-4843-BD4A-5010E04839EA}"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2A6CDC-47AA-4664-94E6-E47588EC46E0}" type="slidenum">
              <a:rPr lang="en-US" smtClean="0"/>
              <a:t>‹#›</a:t>
            </a:fld>
            <a:endParaRPr lang="en-US"/>
          </a:p>
        </p:txBody>
      </p:sp>
    </p:spTree>
    <p:extLst>
      <p:ext uri="{BB962C8B-B14F-4D97-AF65-F5344CB8AC3E}">
        <p14:creationId xmlns:p14="http://schemas.microsoft.com/office/powerpoint/2010/main" val="3778292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18DFB14-67C6-4843-BD4A-5010E04839EA}"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2A6CDC-47AA-4664-94E6-E47588EC46E0}"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862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8DFB14-67C6-4843-BD4A-5010E04839EA}"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2A6CDC-47AA-4664-94E6-E47588EC46E0}" type="slidenum">
              <a:rPr lang="en-US" smtClean="0"/>
              <a:t>‹#›</a:t>
            </a:fld>
            <a:endParaRPr lang="en-US"/>
          </a:p>
        </p:txBody>
      </p:sp>
    </p:spTree>
    <p:extLst>
      <p:ext uri="{BB962C8B-B14F-4D97-AF65-F5344CB8AC3E}">
        <p14:creationId xmlns:p14="http://schemas.microsoft.com/office/powerpoint/2010/main" val="2939948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8DFB14-67C6-4843-BD4A-5010E04839EA}"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2A6CDC-47AA-4664-94E6-E47588EC46E0}"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6223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8DFB14-67C6-4843-BD4A-5010E04839EA}"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2A6CDC-47AA-4664-94E6-E47588EC46E0}" type="slidenum">
              <a:rPr lang="en-US" smtClean="0"/>
              <a:t>‹#›</a:t>
            </a:fld>
            <a:endParaRPr lang="en-US"/>
          </a:p>
        </p:txBody>
      </p:sp>
    </p:spTree>
    <p:extLst>
      <p:ext uri="{BB962C8B-B14F-4D97-AF65-F5344CB8AC3E}">
        <p14:creationId xmlns:p14="http://schemas.microsoft.com/office/powerpoint/2010/main" val="36336299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18DFB14-67C6-4843-BD4A-5010E04839EA}"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2A6CDC-47AA-4664-94E6-E47588EC46E0}" type="slidenum">
              <a:rPr lang="en-US" smtClean="0"/>
              <a:t>‹#›</a:t>
            </a:fld>
            <a:endParaRPr lang="en-US"/>
          </a:p>
        </p:txBody>
      </p:sp>
    </p:spTree>
    <p:extLst>
      <p:ext uri="{BB962C8B-B14F-4D97-AF65-F5344CB8AC3E}">
        <p14:creationId xmlns:p14="http://schemas.microsoft.com/office/powerpoint/2010/main" val="3444685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18DFB14-67C6-4843-BD4A-5010E04839EA}" type="datetimeFigureOut">
              <a:rPr lang="en-US" smtClean="0"/>
              <a:t>4/17/2026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82A6CDC-47AA-4664-94E6-E47588EC46E0}"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0230685"/>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6D178-7AB7-7F9F-E627-D5806430CEB2}"/>
              </a:ext>
            </a:extLst>
          </p:cNvPr>
          <p:cNvSpPr>
            <a:spLocks noGrp="1"/>
          </p:cNvSpPr>
          <p:nvPr>
            <p:ph type="ctrTitle"/>
          </p:nvPr>
        </p:nvSpPr>
        <p:spPr>
          <a:xfrm>
            <a:off x="457200" y="4960137"/>
            <a:ext cx="7134837" cy="1463040"/>
          </a:xfrm>
        </p:spPr>
        <p:txBody>
          <a:bodyPr>
            <a:normAutofit/>
          </a:bodyPr>
          <a:lstStyle/>
          <a:p>
            <a:pPr algn="ctr"/>
            <a:r>
              <a:rPr lang="en-US" sz="4000" b="1" dirty="0">
                <a:latin typeface="Garamond" panose="02020404030301010803" pitchFamily="18" charset="0"/>
              </a:rPr>
              <a:t>Data science with </a:t>
            </a:r>
            <a:r>
              <a:rPr lang="en-US" sz="6000" b="1" dirty="0">
                <a:latin typeface="Garamond" panose="02020404030301010803" pitchFamily="18" charset="0"/>
              </a:rPr>
              <a:t>R</a:t>
            </a:r>
          </a:p>
        </p:txBody>
      </p:sp>
      <p:sp>
        <p:nvSpPr>
          <p:cNvPr id="3" name="Subtitle 2">
            <a:extLst>
              <a:ext uri="{FF2B5EF4-FFF2-40B4-BE49-F238E27FC236}">
                <a16:creationId xmlns:a16="http://schemas.microsoft.com/office/drawing/2014/main" id="{B0E24EB4-0837-3214-4F25-C4ACD36283B6}"/>
              </a:ext>
            </a:extLst>
          </p:cNvPr>
          <p:cNvSpPr>
            <a:spLocks noGrp="1"/>
          </p:cNvSpPr>
          <p:nvPr>
            <p:ph type="subTitle" idx="1"/>
          </p:nvPr>
        </p:nvSpPr>
        <p:spPr>
          <a:xfrm>
            <a:off x="7661945" y="4960137"/>
            <a:ext cx="4530055" cy="1463040"/>
          </a:xfrm>
        </p:spPr>
        <p:txBody>
          <a:bodyPr>
            <a:normAutofit/>
          </a:bodyPr>
          <a:lstStyle/>
          <a:p>
            <a:r>
              <a:rPr lang="en-US" sz="3200" dirty="0">
                <a:solidFill>
                  <a:schemeClr val="tx1"/>
                </a:solidFill>
                <a:highlight>
                  <a:srgbClr val="FFFF00"/>
                </a:highlight>
                <a:latin typeface="Garamond" panose="02020404030301010803" pitchFamily="18" charset="0"/>
              </a:rPr>
              <a:t>FELIX OWUSU-ANSAH</a:t>
            </a:r>
          </a:p>
        </p:txBody>
      </p:sp>
    </p:spTree>
    <p:extLst>
      <p:ext uri="{BB962C8B-B14F-4D97-AF65-F5344CB8AC3E}">
        <p14:creationId xmlns:p14="http://schemas.microsoft.com/office/powerpoint/2010/main" val="2860434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4D859-15AC-A7BD-1C88-46F5A82CBECB}"/>
              </a:ext>
            </a:extLst>
          </p:cNvPr>
          <p:cNvSpPr>
            <a:spLocks noGrp="1"/>
          </p:cNvSpPr>
          <p:nvPr>
            <p:ph type="title"/>
          </p:nvPr>
        </p:nvSpPr>
        <p:spPr/>
        <p:txBody>
          <a:bodyPr>
            <a:normAutofit fontScale="90000"/>
          </a:bodyPr>
          <a:lstStyle/>
          <a:p>
            <a:br>
              <a:rPr lang="en-US" sz="4800" b="1" kern="100" dirty="0">
                <a:effectLst/>
                <a:latin typeface="Garamond" panose="02020404030301010803" pitchFamily="18" charset="0"/>
                <a:ea typeface="Calibri" panose="020F0502020204030204" pitchFamily="34" charset="0"/>
                <a:cs typeface="Times New Roman" panose="02020603050405020304" pitchFamily="18" charset="0"/>
              </a:rPr>
            </a:br>
            <a:r>
              <a:rPr lang="en-US" sz="4800" b="1" kern="100" dirty="0">
                <a:effectLst/>
                <a:latin typeface="Garamond" panose="02020404030301010803" pitchFamily="18" charset="0"/>
                <a:ea typeface="Calibri" panose="020F0502020204030204" pitchFamily="34" charset="0"/>
                <a:cs typeface="Times New Roman" panose="02020603050405020304" pitchFamily="18" charset="0"/>
              </a:rPr>
              <a:t>ALGERIA FOREST FIRES PROJECT</a:t>
            </a:r>
            <a:br>
              <a:rPr lang="en-US" sz="4800" kern="100" dirty="0">
                <a:effectLst/>
                <a:latin typeface="Garamond" panose="02020404030301010803" pitchFamily="18" charset="0"/>
                <a:ea typeface="Calibri" panose="020F0502020204030204" pitchFamily="34" charset="0"/>
                <a:cs typeface="Times New Roman" panose="02020603050405020304" pitchFamily="18" charset="0"/>
              </a:rPr>
            </a:br>
            <a:endParaRPr lang="en-US" sz="4800" dirty="0">
              <a:latin typeface="Garamond" panose="02020404030301010803" pitchFamily="18" charset="0"/>
            </a:endParaRPr>
          </a:p>
        </p:txBody>
      </p:sp>
      <p:sp>
        <p:nvSpPr>
          <p:cNvPr id="3" name="Content Placeholder 2">
            <a:extLst>
              <a:ext uri="{FF2B5EF4-FFF2-40B4-BE49-F238E27FC236}">
                <a16:creationId xmlns:a16="http://schemas.microsoft.com/office/drawing/2014/main" id="{160023FD-28E4-1044-F394-A7551D7E11DF}"/>
              </a:ext>
            </a:extLst>
          </p:cNvPr>
          <p:cNvSpPr>
            <a:spLocks noGrp="1"/>
          </p:cNvSpPr>
          <p:nvPr>
            <p:ph sz="quarter" idx="13"/>
          </p:nvPr>
        </p:nvSpPr>
        <p:spPr>
          <a:xfrm>
            <a:off x="768439" y="1716946"/>
            <a:ext cx="11127149" cy="3424107"/>
          </a:xfrm>
        </p:spPr>
        <p:txBody>
          <a:bodyPr/>
          <a:lstStyle/>
          <a:p>
            <a:pPr marL="0" indent="0" algn="ctr">
              <a:buNone/>
            </a:pPr>
            <a:r>
              <a:rPr lang="en-US" b="1" dirty="0">
                <a:latin typeface="Garamond" panose="02020404030301010803" pitchFamily="18" charset="0"/>
              </a:rPr>
              <a:t>About the Project</a:t>
            </a:r>
          </a:p>
          <a:p>
            <a:pPr marL="0" indent="0" algn="ctr">
              <a:buNone/>
            </a:pPr>
            <a:r>
              <a:rPr lang="en-US" sz="1800" b="1" i="1" kern="100" dirty="0">
                <a:effectLst/>
                <a:highlight>
                  <a:srgbClr val="FFFF00"/>
                </a:highlight>
                <a:latin typeface="Garamond" panose="02020404030301010803" pitchFamily="18" charset="0"/>
                <a:ea typeface="Calibri" panose="020F0502020204030204" pitchFamily="34" charset="0"/>
                <a:cs typeface="Times New Roman" panose="02020603050405020304" pitchFamily="18" charset="0"/>
              </a:rPr>
              <a:t>Predicting either fires occurring or fires not occurring in the forest in Algeria</a:t>
            </a:r>
          </a:p>
          <a:p>
            <a:pPr marL="0" indent="0" algn="just">
              <a:buNone/>
            </a:pPr>
            <a:r>
              <a:rPr lang="en-US" b="1" dirty="0">
                <a:latin typeface="Garamond" panose="02020404030301010803" pitchFamily="18" charset="0"/>
              </a:rPr>
              <a:t>The forest fire prediction project involves various data features and FWI (Fire Weather Index) components:</a:t>
            </a:r>
          </a:p>
        </p:txBody>
      </p:sp>
      <p:sp>
        <p:nvSpPr>
          <p:cNvPr id="6" name="TextBox 5">
            <a:extLst>
              <a:ext uri="{FF2B5EF4-FFF2-40B4-BE49-F238E27FC236}">
                <a16:creationId xmlns:a16="http://schemas.microsoft.com/office/drawing/2014/main" id="{4549D48F-33C1-AAB9-A951-81C9D5289AF4}"/>
              </a:ext>
            </a:extLst>
          </p:cNvPr>
          <p:cNvSpPr txBox="1"/>
          <p:nvPr/>
        </p:nvSpPr>
        <p:spPr>
          <a:xfrm>
            <a:off x="546081" y="3533572"/>
            <a:ext cx="4613857" cy="2739211"/>
          </a:xfrm>
          <a:prstGeom prst="rect">
            <a:avLst/>
          </a:prstGeom>
          <a:noFill/>
        </p:spPr>
        <p:txBody>
          <a:bodyPr wrap="square">
            <a:spAutoFit/>
          </a:bodyPr>
          <a:lstStyle/>
          <a:p>
            <a:pPr algn="ctr"/>
            <a:r>
              <a:rPr lang="en-US" sz="2800" b="1" dirty="0">
                <a:latin typeface="Garamond" panose="02020404030301010803" pitchFamily="18" charset="0"/>
              </a:rPr>
              <a:t>Outcome</a:t>
            </a:r>
          </a:p>
          <a:p>
            <a:pPr algn="just"/>
            <a:r>
              <a:rPr lang="en-US" dirty="0">
                <a:latin typeface="Garamond" panose="02020404030301010803" pitchFamily="18" charset="0"/>
              </a:rPr>
              <a:t>Fire: Indicates the presence of a forest fire.</a:t>
            </a:r>
          </a:p>
          <a:p>
            <a:pPr algn="just"/>
            <a:r>
              <a:rPr lang="en-US" dirty="0">
                <a:latin typeface="Garamond" panose="02020404030301010803" pitchFamily="18" charset="0"/>
              </a:rPr>
              <a:t>No Fire: Indicates the absence of a forest fire. These features and indices help in building predictive models to assess and forecast the likelihood of forest fires. The models can analyze patterns and correlations within the data to predict fire occurrence, aiding in effective fire management and prevention strategies.</a:t>
            </a:r>
          </a:p>
        </p:txBody>
      </p:sp>
      <p:graphicFrame>
        <p:nvGraphicFramePr>
          <p:cNvPr id="5" name="Table 4">
            <a:extLst>
              <a:ext uri="{FF2B5EF4-FFF2-40B4-BE49-F238E27FC236}">
                <a16:creationId xmlns:a16="http://schemas.microsoft.com/office/drawing/2014/main" id="{2E620A80-5D83-D974-9551-6E59B55CEC84}"/>
              </a:ext>
            </a:extLst>
          </p:cNvPr>
          <p:cNvGraphicFramePr>
            <a:graphicFrameLocks noGrp="1"/>
          </p:cNvGraphicFramePr>
          <p:nvPr>
            <p:extLst>
              <p:ext uri="{D42A27DB-BD31-4B8C-83A1-F6EECF244321}">
                <p14:modId xmlns:p14="http://schemas.microsoft.com/office/powerpoint/2010/main" val="2600557658"/>
              </p:ext>
            </p:extLst>
          </p:nvPr>
        </p:nvGraphicFramePr>
        <p:xfrm>
          <a:off x="5771627" y="3428999"/>
          <a:ext cx="6249798" cy="2590404"/>
        </p:xfrm>
        <a:graphic>
          <a:graphicData uri="http://schemas.openxmlformats.org/drawingml/2006/table">
            <a:tbl>
              <a:tblPr>
                <a:tableStyleId>{5C22544A-7EE6-4342-B048-85BDC9FD1C3A}</a:tableStyleId>
              </a:tblPr>
              <a:tblGrid>
                <a:gridCol w="2973205">
                  <a:extLst>
                    <a:ext uri="{9D8B030D-6E8A-4147-A177-3AD203B41FA5}">
                      <a16:colId xmlns:a16="http://schemas.microsoft.com/office/drawing/2014/main" val="2131627933"/>
                    </a:ext>
                  </a:extLst>
                </a:gridCol>
                <a:gridCol w="3276593">
                  <a:extLst>
                    <a:ext uri="{9D8B030D-6E8A-4147-A177-3AD203B41FA5}">
                      <a16:colId xmlns:a16="http://schemas.microsoft.com/office/drawing/2014/main" val="2812234862"/>
                    </a:ext>
                  </a:extLst>
                </a:gridCol>
              </a:tblGrid>
              <a:tr h="431734">
                <a:tc>
                  <a:txBody>
                    <a:bodyPr/>
                    <a:lstStyle/>
                    <a:p>
                      <a:pPr algn="l" fontAlgn="b">
                        <a:buNone/>
                      </a:pPr>
                      <a:r>
                        <a:rPr lang="en-US" sz="2400" b="1" u="none" strike="noStrike">
                          <a:effectLst/>
                          <a:latin typeface="Garamond" panose="02020404030301010803" pitchFamily="18" charset="0"/>
                        </a:rPr>
                        <a:t>Data Features</a:t>
                      </a:r>
                      <a:endParaRPr lang="en-US" sz="2400" b="1" i="0" u="none" strike="noStrike">
                        <a:solidFill>
                          <a:srgbClr val="FFFFFF"/>
                        </a:solidFill>
                        <a:effectLst/>
                        <a:latin typeface="Garamond" panose="02020404030301010803" pitchFamily="18" charset="0"/>
                      </a:endParaRPr>
                    </a:p>
                  </a:txBody>
                  <a:tcPr marL="6350" marR="6350" marT="6350" marB="0" anchor="b"/>
                </a:tc>
                <a:tc>
                  <a:txBody>
                    <a:bodyPr/>
                    <a:lstStyle/>
                    <a:p>
                      <a:pPr algn="l" fontAlgn="b">
                        <a:buNone/>
                      </a:pPr>
                      <a:r>
                        <a:rPr lang="en-US" sz="2400" b="1" u="none" strike="noStrike" dirty="0">
                          <a:effectLst/>
                          <a:latin typeface="Garamond" panose="02020404030301010803" pitchFamily="18" charset="0"/>
                        </a:rPr>
                        <a:t>FWI Components</a:t>
                      </a:r>
                      <a:endParaRPr lang="en-US" sz="2400" b="1" i="0" u="none" strike="noStrike" dirty="0">
                        <a:solidFill>
                          <a:srgbClr val="FFFFFF"/>
                        </a:solidFill>
                        <a:effectLst/>
                        <a:latin typeface="Garamond" panose="02020404030301010803" pitchFamily="18" charset="0"/>
                      </a:endParaRPr>
                    </a:p>
                  </a:txBody>
                  <a:tcPr marL="6350" marR="6350" marT="6350" marB="0" anchor="b"/>
                </a:tc>
                <a:extLst>
                  <a:ext uri="{0D108BD9-81ED-4DB2-BD59-A6C34878D82A}">
                    <a16:rowId xmlns:a16="http://schemas.microsoft.com/office/drawing/2014/main" val="3652787857"/>
                  </a:ext>
                </a:extLst>
              </a:tr>
              <a:tr h="431734">
                <a:tc>
                  <a:txBody>
                    <a:bodyPr/>
                    <a:lstStyle/>
                    <a:p>
                      <a:pPr algn="l" fontAlgn="b">
                        <a:buNone/>
                      </a:pPr>
                      <a:r>
                        <a:rPr lang="en-US" sz="2000" u="none" strike="noStrike">
                          <a:effectLst/>
                        </a:rPr>
                        <a:t>Month</a:t>
                      </a:r>
                      <a:endParaRPr lang="en-US" sz="2000" b="0" i="0" u="none" strike="noStrike">
                        <a:solidFill>
                          <a:srgbClr val="000000"/>
                        </a:solidFill>
                        <a:effectLst/>
                        <a:latin typeface="Calibri" panose="020F0502020204030204" pitchFamily="34" charset="0"/>
                      </a:endParaRPr>
                    </a:p>
                  </a:txBody>
                  <a:tcPr marL="6350" marR="6350" marT="6350" marB="0" anchor="b">
                    <a:solidFill>
                      <a:schemeClr val="bg1"/>
                    </a:solidFill>
                  </a:tcPr>
                </a:tc>
                <a:tc>
                  <a:txBody>
                    <a:bodyPr/>
                    <a:lstStyle/>
                    <a:p>
                      <a:pPr algn="l" fontAlgn="b">
                        <a:buNone/>
                      </a:pPr>
                      <a:r>
                        <a:rPr lang="en-US" sz="2000" u="none" strike="noStrike" dirty="0">
                          <a:effectLst/>
                        </a:rPr>
                        <a:t>Fine Fuel Moisture Code (FFMC)</a:t>
                      </a:r>
                      <a:endParaRPr lang="en-US" sz="2000" b="0" i="0" u="none" strike="noStrike" dirty="0">
                        <a:solidFill>
                          <a:srgbClr val="000000"/>
                        </a:solidFill>
                        <a:effectLst/>
                        <a:latin typeface="Calibri" panose="020F0502020204030204" pitchFamily="34" charset="0"/>
                      </a:endParaRPr>
                    </a:p>
                  </a:txBody>
                  <a:tcPr marL="6350" marR="6350" marT="6350" marB="0" anchor="b">
                    <a:solidFill>
                      <a:schemeClr val="bg1"/>
                    </a:solidFill>
                  </a:tcPr>
                </a:tc>
                <a:extLst>
                  <a:ext uri="{0D108BD9-81ED-4DB2-BD59-A6C34878D82A}">
                    <a16:rowId xmlns:a16="http://schemas.microsoft.com/office/drawing/2014/main" val="2192275531"/>
                  </a:ext>
                </a:extLst>
              </a:tr>
              <a:tr h="431734">
                <a:tc>
                  <a:txBody>
                    <a:bodyPr/>
                    <a:lstStyle/>
                    <a:p>
                      <a:pPr algn="l" fontAlgn="b">
                        <a:buNone/>
                      </a:pPr>
                      <a:r>
                        <a:rPr lang="en-US" sz="2000" u="none" strike="noStrike" dirty="0">
                          <a:effectLst/>
                        </a:rPr>
                        <a:t>Day</a:t>
                      </a:r>
                      <a:endParaRPr lang="en-US" sz="20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buNone/>
                      </a:pPr>
                      <a:r>
                        <a:rPr lang="en-US" sz="2000" u="none" strike="noStrike" dirty="0">
                          <a:effectLst/>
                        </a:rPr>
                        <a:t>Duff Moisture Code (DMC)</a:t>
                      </a:r>
                      <a:endParaRPr lang="en-US" sz="2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817753141"/>
                  </a:ext>
                </a:extLst>
              </a:tr>
              <a:tr h="431734">
                <a:tc>
                  <a:txBody>
                    <a:bodyPr/>
                    <a:lstStyle/>
                    <a:p>
                      <a:pPr algn="l" fontAlgn="b">
                        <a:buNone/>
                      </a:pPr>
                      <a:r>
                        <a:rPr lang="en-US" sz="2000" u="none" strike="noStrike" dirty="0">
                          <a:effectLst/>
                        </a:rPr>
                        <a:t>Temperature</a:t>
                      </a:r>
                      <a:endParaRPr lang="en-US" sz="2000" b="0" i="0" u="none" strike="noStrike" dirty="0">
                        <a:solidFill>
                          <a:srgbClr val="000000"/>
                        </a:solidFill>
                        <a:effectLst/>
                        <a:latin typeface="Calibri" panose="020F0502020204030204" pitchFamily="34" charset="0"/>
                      </a:endParaRPr>
                    </a:p>
                  </a:txBody>
                  <a:tcPr marL="6350" marR="6350" marT="6350" marB="0" anchor="b">
                    <a:solidFill>
                      <a:schemeClr val="bg1"/>
                    </a:solidFill>
                  </a:tcPr>
                </a:tc>
                <a:tc>
                  <a:txBody>
                    <a:bodyPr/>
                    <a:lstStyle/>
                    <a:p>
                      <a:pPr algn="l" fontAlgn="b">
                        <a:buNone/>
                      </a:pPr>
                      <a:r>
                        <a:rPr lang="en-US" sz="2000" u="none" strike="noStrike" dirty="0">
                          <a:effectLst/>
                        </a:rPr>
                        <a:t>Drought Code (DC)</a:t>
                      </a:r>
                      <a:endParaRPr lang="en-US" sz="2000" b="0" i="0" u="none" strike="noStrike" dirty="0">
                        <a:solidFill>
                          <a:srgbClr val="000000"/>
                        </a:solidFill>
                        <a:effectLst/>
                        <a:latin typeface="Calibri" panose="020F0502020204030204" pitchFamily="34" charset="0"/>
                      </a:endParaRPr>
                    </a:p>
                  </a:txBody>
                  <a:tcPr marL="6350" marR="6350" marT="6350" marB="0" anchor="b">
                    <a:solidFill>
                      <a:schemeClr val="bg1"/>
                    </a:solidFill>
                  </a:tcPr>
                </a:tc>
                <a:extLst>
                  <a:ext uri="{0D108BD9-81ED-4DB2-BD59-A6C34878D82A}">
                    <a16:rowId xmlns:a16="http://schemas.microsoft.com/office/drawing/2014/main" val="2683222788"/>
                  </a:ext>
                </a:extLst>
              </a:tr>
              <a:tr h="431734">
                <a:tc>
                  <a:txBody>
                    <a:bodyPr/>
                    <a:lstStyle/>
                    <a:p>
                      <a:pPr algn="l" fontAlgn="b">
                        <a:buNone/>
                      </a:pPr>
                      <a:r>
                        <a:rPr lang="en-US" sz="2000" u="none" strike="noStrike">
                          <a:effectLst/>
                        </a:rPr>
                        <a:t>RH (Relative Humidity)</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buNone/>
                      </a:pPr>
                      <a:r>
                        <a:rPr lang="en-US" sz="2000" u="none" strike="noStrike" dirty="0">
                          <a:effectLst/>
                        </a:rPr>
                        <a:t>Initial Spread Index (ISI)</a:t>
                      </a:r>
                      <a:endParaRPr lang="en-US" sz="2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184126084"/>
                  </a:ext>
                </a:extLst>
              </a:tr>
              <a:tr h="431734">
                <a:tc>
                  <a:txBody>
                    <a:bodyPr/>
                    <a:lstStyle/>
                    <a:p>
                      <a:pPr algn="l" fontAlgn="b">
                        <a:buNone/>
                      </a:pPr>
                      <a:r>
                        <a:rPr lang="en-US" sz="2000" u="none" strike="noStrike" dirty="0" err="1">
                          <a:effectLst/>
                          <a:latin typeface="Garamond" panose="02020404030301010803" pitchFamily="18" charset="0"/>
                        </a:rPr>
                        <a:t>Ws</a:t>
                      </a:r>
                      <a:r>
                        <a:rPr lang="en-US" sz="2000" u="none" strike="noStrike" dirty="0">
                          <a:effectLst/>
                          <a:latin typeface="Garamond" panose="02020404030301010803" pitchFamily="18" charset="0"/>
                        </a:rPr>
                        <a:t> (Wind Speed)</a:t>
                      </a:r>
                      <a:endParaRPr lang="en-US" sz="2000" b="0" i="0" u="none" strike="noStrike" dirty="0">
                        <a:solidFill>
                          <a:srgbClr val="000000"/>
                        </a:solidFill>
                        <a:effectLst/>
                        <a:latin typeface="Garamond" panose="02020404030301010803" pitchFamily="18" charset="0"/>
                      </a:endParaRPr>
                    </a:p>
                  </a:txBody>
                  <a:tcPr marL="6350" marR="6350" marT="6350" marB="0" anchor="b">
                    <a:solidFill>
                      <a:schemeClr val="bg1"/>
                    </a:solidFill>
                  </a:tcPr>
                </a:tc>
                <a:tc>
                  <a:txBody>
                    <a:bodyPr/>
                    <a:lstStyle/>
                    <a:p>
                      <a:pPr algn="l" fontAlgn="b">
                        <a:buNone/>
                      </a:pPr>
                      <a:r>
                        <a:rPr lang="en-US" sz="2000" b="0" i="0" u="none" strike="noStrike" dirty="0">
                          <a:solidFill>
                            <a:srgbClr val="000000"/>
                          </a:solidFill>
                          <a:effectLst/>
                          <a:latin typeface="Garamond" panose="02020404030301010803" pitchFamily="18" charset="0"/>
                        </a:rPr>
                        <a:t>Rain</a:t>
                      </a:r>
                    </a:p>
                  </a:txBody>
                  <a:tcPr marL="6350" marR="6350" marT="6350" marB="0" anchor="b">
                    <a:solidFill>
                      <a:schemeClr val="bg1"/>
                    </a:solidFill>
                  </a:tcPr>
                </a:tc>
                <a:extLst>
                  <a:ext uri="{0D108BD9-81ED-4DB2-BD59-A6C34878D82A}">
                    <a16:rowId xmlns:a16="http://schemas.microsoft.com/office/drawing/2014/main" val="120684806"/>
                  </a:ext>
                </a:extLst>
              </a:tr>
            </a:tbl>
          </a:graphicData>
        </a:graphic>
      </p:graphicFrame>
    </p:spTree>
    <p:extLst>
      <p:ext uri="{BB962C8B-B14F-4D97-AF65-F5344CB8AC3E}">
        <p14:creationId xmlns:p14="http://schemas.microsoft.com/office/powerpoint/2010/main" val="3196735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8BFFB-EFE9-DA0D-528A-68DBB4523C49}"/>
              </a:ext>
            </a:extLst>
          </p:cNvPr>
          <p:cNvSpPr>
            <a:spLocks noGrp="1"/>
          </p:cNvSpPr>
          <p:nvPr>
            <p:ph type="title"/>
          </p:nvPr>
        </p:nvSpPr>
        <p:spPr>
          <a:xfrm>
            <a:off x="1024127" y="585216"/>
            <a:ext cx="10871461" cy="1499616"/>
          </a:xfrm>
        </p:spPr>
        <p:txBody>
          <a:bodyPr>
            <a:noAutofit/>
          </a:bodyPr>
          <a:lstStyle/>
          <a:p>
            <a:pPr algn="ctr"/>
            <a:r>
              <a:rPr lang="en-US" sz="4000" b="1" dirty="0">
                <a:latin typeface="Garamond" panose="02020404030301010803" pitchFamily="18" charset="0"/>
              </a:rPr>
              <a:t>DATA PREPARATION, PRE-PROCESSING, AND FEATURE SELECTION</a:t>
            </a:r>
          </a:p>
        </p:txBody>
      </p:sp>
      <p:sp>
        <p:nvSpPr>
          <p:cNvPr id="3" name="Content Placeholder 2">
            <a:extLst>
              <a:ext uri="{FF2B5EF4-FFF2-40B4-BE49-F238E27FC236}">
                <a16:creationId xmlns:a16="http://schemas.microsoft.com/office/drawing/2014/main" id="{AD000599-176D-C523-E805-6E0E1B1AC489}"/>
              </a:ext>
            </a:extLst>
          </p:cNvPr>
          <p:cNvSpPr>
            <a:spLocks noGrp="1"/>
          </p:cNvSpPr>
          <p:nvPr>
            <p:ph sz="quarter" idx="13"/>
          </p:nvPr>
        </p:nvSpPr>
        <p:spPr/>
        <p:txBody>
          <a:bodyPr/>
          <a:lstStyle/>
          <a:p>
            <a:r>
              <a:rPr lang="en-US" b="1" dirty="0">
                <a:latin typeface="Garamond" panose="02020404030301010803" pitchFamily="18" charset="0"/>
              </a:rPr>
              <a:t>Missing item </a:t>
            </a:r>
            <a:r>
              <a:rPr lang="en-US" dirty="0">
                <a:latin typeface="Garamond" panose="02020404030301010803" pitchFamily="18" charset="0"/>
              </a:rPr>
              <a:t>: 0</a:t>
            </a:r>
          </a:p>
          <a:p>
            <a:r>
              <a:rPr lang="en-US" b="1" dirty="0">
                <a:latin typeface="Garamond" panose="02020404030301010803" pitchFamily="18" charset="0"/>
              </a:rPr>
              <a:t>Duplicates</a:t>
            </a:r>
            <a:r>
              <a:rPr lang="en-US" dirty="0">
                <a:latin typeface="Garamond" panose="02020404030301010803" pitchFamily="18" charset="0"/>
              </a:rPr>
              <a:t>: 0</a:t>
            </a:r>
          </a:p>
          <a:p>
            <a:pPr marL="0" indent="0" algn="ctr">
              <a:buNone/>
            </a:pPr>
            <a:r>
              <a:rPr lang="en-US" b="1" dirty="0">
                <a:latin typeface="Garamond" panose="02020404030301010803" pitchFamily="18" charset="0"/>
              </a:rPr>
              <a:t>Relevant feature targeted :</a:t>
            </a:r>
          </a:p>
          <a:p>
            <a:pPr marL="0" indent="0" algn="ctr">
              <a:buNone/>
            </a:pPr>
            <a:r>
              <a:rPr lang="en-US" b="1" i="1" dirty="0">
                <a:highlight>
                  <a:srgbClr val="FFFF00"/>
                </a:highlight>
                <a:latin typeface="Garamond" panose="02020404030301010803" pitchFamily="18" charset="0"/>
              </a:rPr>
              <a:t>month, FFMC, DMC, DC, ISI, Temperature, RH, wind, rain, outcome</a:t>
            </a:r>
          </a:p>
        </p:txBody>
      </p:sp>
    </p:spTree>
    <p:extLst>
      <p:ext uri="{BB962C8B-B14F-4D97-AF65-F5344CB8AC3E}">
        <p14:creationId xmlns:p14="http://schemas.microsoft.com/office/powerpoint/2010/main" val="19063188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C014-3DE8-A3B8-B8AA-3C6C5599CD11}"/>
              </a:ext>
            </a:extLst>
          </p:cNvPr>
          <p:cNvSpPr>
            <a:spLocks noGrp="1"/>
          </p:cNvSpPr>
          <p:nvPr>
            <p:ph type="title"/>
          </p:nvPr>
        </p:nvSpPr>
        <p:spPr>
          <a:xfrm>
            <a:off x="1024128" y="494950"/>
            <a:ext cx="9638279" cy="2265028"/>
          </a:xfrm>
        </p:spPr>
        <p:txBody>
          <a:bodyPr>
            <a:normAutofit/>
          </a:bodyPr>
          <a:lstStyle/>
          <a:p>
            <a:pPr algn="ctr"/>
            <a:r>
              <a:rPr lang="en-US" sz="3600" b="1" dirty="0">
                <a:latin typeface="Garamond" panose="02020404030301010803" pitchFamily="18" charset="0"/>
              </a:rPr>
              <a:t>The models implemented in the project</a:t>
            </a:r>
          </a:p>
        </p:txBody>
      </p:sp>
      <p:sp>
        <p:nvSpPr>
          <p:cNvPr id="3" name="Content Placeholder 2">
            <a:extLst>
              <a:ext uri="{FF2B5EF4-FFF2-40B4-BE49-F238E27FC236}">
                <a16:creationId xmlns:a16="http://schemas.microsoft.com/office/drawing/2014/main" id="{957A8C39-AEB8-BA31-036B-F81E53FC3BD3}"/>
              </a:ext>
            </a:extLst>
          </p:cNvPr>
          <p:cNvSpPr>
            <a:spLocks noGrp="1"/>
          </p:cNvSpPr>
          <p:nvPr>
            <p:ph sz="quarter" idx="13"/>
          </p:nvPr>
        </p:nvSpPr>
        <p:spPr>
          <a:xfrm>
            <a:off x="914399" y="2978092"/>
            <a:ext cx="10363826" cy="2660709"/>
          </a:xfrm>
        </p:spPr>
        <p:txBody>
          <a:bodyPr/>
          <a:lstStyle/>
          <a:p>
            <a:endParaRPr lang="en-US" sz="1800" kern="100" dirty="0">
              <a:effectLst/>
              <a:latin typeface="Garamond" panose="02020404030301010803" pitchFamily="18" charset="0"/>
              <a:ea typeface="Calibri" panose="020F0502020204030204" pitchFamily="34" charset="0"/>
              <a:cs typeface="Times New Roman" panose="02020603050405020304" pitchFamily="18" charset="0"/>
            </a:endParaRPr>
          </a:p>
          <a:p>
            <a:endParaRPr lang="en-US" sz="1800" kern="100" dirty="0">
              <a:latin typeface="Garamond" panose="02020404030301010803" pitchFamily="18" charset="0"/>
              <a:ea typeface="Calibri" panose="020F0502020204030204" pitchFamily="34" charset="0"/>
              <a:cs typeface="Times New Roman" panose="02020603050405020304" pitchFamily="18" charset="0"/>
            </a:endParaRPr>
          </a:p>
          <a:p>
            <a:pPr algn="ctr"/>
            <a:r>
              <a:rPr lang="en-US" sz="3200" b="1" kern="100" dirty="0">
                <a:effectLst/>
                <a:latin typeface="Garamond" panose="02020404030301010803" pitchFamily="18" charset="0"/>
                <a:ea typeface="Calibri" panose="020F0502020204030204" pitchFamily="34" charset="0"/>
                <a:cs typeface="Times New Roman" panose="02020603050405020304" pitchFamily="18" charset="0"/>
              </a:rPr>
              <a:t>Logistic Regression</a:t>
            </a:r>
          </a:p>
          <a:p>
            <a:pPr algn="ctr"/>
            <a:r>
              <a:rPr lang="en-US" sz="3200" b="1" kern="100" dirty="0">
                <a:effectLst/>
                <a:latin typeface="Garamond" panose="02020404030301010803" pitchFamily="18" charset="0"/>
                <a:ea typeface="Calibri" panose="020F0502020204030204" pitchFamily="34" charset="0"/>
                <a:cs typeface="Times New Roman" panose="02020603050405020304" pitchFamily="18" charset="0"/>
              </a:rPr>
              <a:t>Decision Tree regression</a:t>
            </a:r>
          </a:p>
          <a:p>
            <a:pPr algn="ctr"/>
            <a:r>
              <a:rPr lang="en-US" sz="3200" b="1" kern="100" dirty="0">
                <a:latin typeface="Garamond" panose="02020404030301010803" pitchFamily="18" charset="0"/>
                <a:ea typeface="Calibri" panose="020F0502020204030204" pitchFamily="34" charset="0"/>
                <a:cs typeface="Times New Roman" panose="02020603050405020304" pitchFamily="18" charset="0"/>
              </a:rPr>
              <a:t>Random Forest Regression</a:t>
            </a:r>
            <a:endParaRPr lang="en-US" sz="3200" b="1" kern="100" dirty="0">
              <a:effectLst/>
              <a:latin typeface="Garamond" panose="02020404030301010803" pitchFamily="18" charset="0"/>
              <a:ea typeface="Calibri" panose="020F0502020204030204" pitchFamily="34" charset="0"/>
              <a:cs typeface="Times New Roman" panose="02020603050405020304" pitchFamily="18" charset="0"/>
            </a:endParaRPr>
          </a:p>
          <a:p>
            <a:endParaRPr lang="en-US" dirty="0">
              <a:latin typeface="Garamond" panose="02020404030301010803" pitchFamily="18" charset="0"/>
            </a:endParaRPr>
          </a:p>
        </p:txBody>
      </p:sp>
    </p:spTree>
    <p:extLst>
      <p:ext uri="{BB962C8B-B14F-4D97-AF65-F5344CB8AC3E}">
        <p14:creationId xmlns:p14="http://schemas.microsoft.com/office/powerpoint/2010/main" val="3345761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EF333D-51CD-C9CE-653E-D57CFA547ECF}"/>
              </a:ext>
            </a:extLst>
          </p:cNvPr>
          <p:cNvSpPr>
            <a:spLocks noGrp="1"/>
          </p:cNvSpPr>
          <p:nvPr>
            <p:ph type="title"/>
          </p:nvPr>
        </p:nvSpPr>
        <p:spPr>
          <a:xfrm>
            <a:off x="840017" y="596247"/>
            <a:ext cx="3632825" cy="1577340"/>
          </a:xfrm>
        </p:spPr>
        <p:txBody>
          <a:bodyPr/>
          <a:lstStyle/>
          <a:p>
            <a:r>
              <a:rPr lang="en-US" b="1" dirty="0">
                <a:latin typeface="Garamond" panose="02020404030301010803" pitchFamily="18" charset="0"/>
              </a:rPr>
              <a:t>LOGISTICS REGRESSION</a:t>
            </a:r>
            <a:br>
              <a:rPr lang="en-US" dirty="0">
                <a:latin typeface="Garamond" panose="02020404030301010803" pitchFamily="18" charset="0"/>
              </a:rPr>
            </a:br>
            <a:endParaRPr lang="en-US" dirty="0">
              <a:latin typeface="Garamond" panose="02020404030301010803" pitchFamily="18" charset="0"/>
            </a:endParaRPr>
          </a:p>
        </p:txBody>
      </p:sp>
      <p:sp>
        <p:nvSpPr>
          <p:cNvPr id="5" name="Text Placeholder 4">
            <a:extLst>
              <a:ext uri="{FF2B5EF4-FFF2-40B4-BE49-F238E27FC236}">
                <a16:creationId xmlns:a16="http://schemas.microsoft.com/office/drawing/2014/main" id="{8A560D80-A555-6EE2-7A34-8339B9F72D25}"/>
              </a:ext>
            </a:extLst>
          </p:cNvPr>
          <p:cNvSpPr>
            <a:spLocks noGrp="1"/>
          </p:cNvSpPr>
          <p:nvPr>
            <p:ph type="body" sz="half" idx="2"/>
          </p:nvPr>
        </p:nvSpPr>
        <p:spPr>
          <a:xfrm>
            <a:off x="257165" y="1941886"/>
            <a:ext cx="5074920" cy="2974228"/>
          </a:xfrm>
        </p:spPr>
        <p:txBody>
          <a:bodyPr>
            <a:normAutofit/>
          </a:bodyPr>
          <a:lstStyle/>
          <a:p>
            <a:pPr algn="just">
              <a:lnSpc>
                <a:spcPct val="107000"/>
              </a:lnSpc>
              <a:spcBef>
                <a:spcPts val="0"/>
              </a:spcBef>
              <a:spcAft>
                <a:spcPts val="800"/>
              </a:spcAft>
            </a:pPr>
            <a:r>
              <a:rPr lang="en-US" sz="1800" b="1" kern="100" dirty="0">
                <a:latin typeface="Garamond" panose="02020404030301010803" pitchFamily="18" charset="0"/>
                <a:ea typeface="Calibri" panose="020F0502020204030204" pitchFamily="34" charset="0"/>
                <a:cs typeface="Times New Roman" panose="02020603050405020304" pitchFamily="18" charset="0"/>
              </a:rPr>
              <a:t>Performance metrics result</a:t>
            </a:r>
            <a:endParaRPr lang="en-US" sz="1800" kern="100" dirty="0">
              <a:latin typeface="Garamond" panose="02020404030301010803" pitchFamily="18"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1800" b="1" kern="100" dirty="0">
                <a:latin typeface="Garamond" panose="02020404030301010803" pitchFamily="18" charset="0"/>
                <a:ea typeface="Calibri" panose="020F0502020204030204" pitchFamily="34" charset="0"/>
                <a:cs typeface="Times New Roman" panose="02020603050405020304" pitchFamily="18" charset="0"/>
              </a:rPr>
              <a:t>Accuracy: </a:t>
            </a:r>
            <a:r>
              <a:rPr lang="en-US" sz="1800" kern="100" dirty="0">
                <a:latin typeface="Garamond" panose="02020404030301010803" pitchFamily="18" charset="0"/>
                <a:ea typeface="Calibri" panose="020F0502020204030204" pitchFamily="34" charset="0"/>
                <a:cs typeface="Times New Roman" panose="02020603050405020304" pitchFamily="18" charset="0"/>
              </a:rPr>
              <a:t>65.8%</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1800" b="1" kern="100" dirty="0">
                <a:latin typeface="Garamond" panose="02020404030301010803" pitchFamily="18" charset="0"/>
                <a:ea typeface="Calibri" panose="020F0502020204030204" pitchFamily="34" charset="0"/>
                <a:cs typeface="Times New Roman" panose="02020603050405020304" pitchFamily="18" charset="0"/>
              </a:rPr>
              <a:t>Sensitivity (Recall):</a:t>
            </a:r>
            <a:r>
              <a:rPr lang="en-US" sz="1800" kern="100" dirty="0">
                <a:latin typeface="Garamond" panose="02020404030301010803" pitchFamily="18" charset="0"/>
                <a:ea typeface="Calibri" panose="020F0502020204030204" pitchFamily="34" charset="0"/>
                <a:cs typeface="Times New Roman" panose="02020603050405020304" pitchFamily="18" charset="0"/>
              </a:rPr>
              <a:t> 82.6%</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1800" b="1" kern="100" dirty="0">
                <a:latin typeface="Garamond" panose="02020404030301010803" pitchFamily="18" charset="0"/>
                <a:ea typeface="Calibri" panose="020F0502020204030204" pitchFamily="34" charset="0"/>
                <a:cs typeface="Times New Roman" panose="02020603050405020304" pitchFamily="18" charset="0"/>
              </a:rPr>
              <a:t>Specificity:</a:t>
            </a:r>
            <a:r>
              <a:rPr lang="en-US" sz="1800" kern="100" dirty="0">
                <a:latin typeface="Garamond" panose="02020404030301010803" pitchFamily="18" charset="0"/>
                <a:ea typeface="Calibri" panose="020F0502020204030204" pitchFamily="34" charset="0"/>
                <a:cs typeface="Times New Roman" panose="02020603050405020304" pitchFamily="18" charset="0"/>
              </a:rPr>
              <a:t> 44.1%</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1800" b="1" kern="100" dirty="0">
                <a:latin typeface="Garamond" panose="02020404030301010803" pitchFamily="18" charset="0"/>
                <a:ea typeface="Calibri" panose="020F0502020204030204" pitchFamily="34" charset="0"/>
                <a:cs typeface="Times New Roman" panose="02020603050405020304" pitchFamily="18" charset="0"/>
              </a:rPr>
              <a:t>ROC AUC: </a:t>
            </a:r>
            <a:r>
              <a:rPr lang="en-US" sz="1800" kern="100" dirty="0">
                <a:latin typeface="Garamond" panose="02020404030301010803" pitchFamily="18" charset="0"/>
                <a:ea typeface="Calibri" panose="020F0502020204030204" pitchFamily="34" charset="0"/>
                <a:cs typeface="Times New Roman" panose="02020603050405020304" pitchFamily="18" charset="0"/>
              </a:rPr>
              <a:t>0.696</a:t>
            </a:r>
          </a:p>
          <a:p>
            <a:pPr algn="just"/>
            <a:endParaRPr lang="en-US" dirty="0">
              <a:latin typeface="Garamond" panose="02020404030301010803" pitchFamily="18" charset="0"/>
            </a:endParaRPr>
          </a:p>
        </p:txBody>
      </p:sp>
      <p:graphicFrame>
        <p:nvGraphicFramePr>
          <p:cNvPr id="8" name="Table 7">
            <a:extLst>
              <a:ext uri="{FF2B5EF4-FFF2-40B4-BE49-F238E27FC236}">
                <a16:creationId xmlns:a16="http://schemas.microsoft.com/office/drawing/2014/main" id="{EA4E2044-D162-481B-1012-DFD880B17A5D}"/>
              </a:ext>
            </a:extLst>
          </p:cNvPr>
          <p:cNvGraphicFramePr>
            <a:graphicFrameLocks noGrp="1"/>
          </p:cNvGraphicFramePr>
          <p:nvPr>
            <p:extLst>
              <p:ext uri="{D42A27DB-BD31-4B8C-83A1-F6EECF244321}">
                <p14:modId xmlns:p14="http://schemas.microsoft.com/office/powerpoint/2010/main" val="600674811"/>
              </p:ext>
            </p:extLst>
          </p:nvPr>
        </p:nvGraphicFramePr>
        <p:xfrm>
          <a:off x="5562600" y="398216"/>
          <a:ext cx="6377940" cy="1577340"/>
        </p:xfrm>
        <a:graphic>
          <a:graphicData uri="http://schemas.openxmlformats.org/drawingml/2006/table">
            <a:tbl>
              <a:tblPr firstRow="1" bandRow="1">
                <a:tableStyleId>{5C22544A-7EE6-4342-B048-85BDC9FD1C3A}</a:tableStyleId>
              </a:tblPr>
              <a:tblGrid>
                <a:gridCol w="2125980">
                  <a:extLst>
                    <a:ext uri="{9D8B030D-6E8A-4147-A177-3AD203B41FA5}">
                      <a16:colId xmlns:a16="http://schemas.microsoft.com/office/drawing/2014/main" val="3601434795"/>
                    </a:ext>
                  </a:extLst>
                </a:gridCol>
                <a:gridCol w="2125980">
                  <a:extLst>
                    <a:ext uri="{9D8B030D-6E8A-4147-A177-3AD203B41FA5}">
                      <a16:colId xmlns:a16="http://schemas.microsoft.com/office/drawing/2014/main" val="2054355883"/>
                    </a:ext>
                  </a:extLst>
                </a:gridCol>
                <a:gridCol w="2125980">
                  <a:extLst>
                    <a:ext uri="{9D8B030D-6E8A-4147-A177-3AD203B41FA5}">
                      <a16:colId xmlns:a16="http://schemas.microsoft.com/office/drawing/2014/main" val="2269804400"/>
                    </a:ext>
                  </a:extLst>
                </a:gridCol>
              </a:tblGrid>
              <a:tr h="525780">
                <a:tc>
                  <a:txBody>
                    <a:bodyPr/>
                    <a:lstStyle/>
                    <a:p>
                      <a:r>
                        <a:rPr lang="en-US" sz="2400" dirty="0">
                          <a:latin typeface="Garamond" panose="02020404030301010803" pitchFamily="18" charset="0"/>
                        </a:rPr>
                        <a:t>Conf. Matrix</a:t>
                      </a:r>
                    </a:p>
                  </a:txBody>
                  <a:tcPr/>
                </a:tc>
                <a:tc>
                  <a:txBody>
                    <a:bodyPr/>
                    <a:lstStyle/>
                    <a:p>
                      <a:r>
                        <a:rPr lang="en-US" sz="2400" dirty="0">
                          <a:latin typeface="Garamond" panose="02020404030301010803" pitchFamily="18" charset="0"/>
                        </a:rPr>
                        <a:t>POSITIVE</a:t>
                      </a:r>
                    </a:p>
                  </a:txBody>
                  <a:tcPr/>
                </a:tc>
                <a:tc>
                  <a:txBody>
                    <a:bodyPr/>
                    <a:lstStyle/>
                    <a:p>
                      <a:r>
                        <a:rPr lang="en-US" sz="2400" dirty="0">
                          <a:latin typeface="Garamond" panose="02020404030301010803" pitchFamily="18" charset="0"/>
                        </a:rPr>
                        <a:t>NEGATIVE</a:t>
                      </a:r>
                    </a:p>
                  </a:txBody>
                  <a:tcPr/>
                </a:tc>
                <a:extLst>
                  <a:ext uri="{0D108BD9-81ED-4DB2-BD59-A6C34878D82A}">
                    <a16:rowId xmlns:a16="http://schemas.microsoft.com/office/drawing/2014/main" val="3091215264"/>
                  </a:ext>
                </a:extLst>
              </a:tr>
              <a:tr h="525780">
                <a:tc>
                  <a:txBody>
                    <a:bodyPr/>
                    <a:lstStyle/>
                    <a:p>
                      <a:r>
                        <a:rPr lang="en-US" sz="2400" dirty="0">
                          <a:latin typeface="Garamond" panose="02020404030301010803" pitchFamily="18" charset="0"/>
                        </a:rPr>
                        <a:t>POSITIVE</a:t>
                      </a:r>
                    </a:p>
                  </a:txBody>
                  <a:tcPr/>
                </a:tc>
                <a:tc>
                  <a:txBody>
                    <a:bodyPr/>
                    <a:lstStyle/>
                    <a:p>
                      <a:r>
                        <a:rPr lang="en-US" sz="2400" dirty="0">
                          <a:latin typeface="Garamond" panose="02020404030301010803" pitchFamily="18" charset="0"/>
                        </a:rPr>
                        <a:t>71</a:t>
                      </a:r>
                    </a:p>
                  </a:txBody>
                  <a:tcPr/>
                </a:tc>
                <a:tc>
                  <a:txBody>
                    <a:bodyPr/>
                    <a:lstStyle/>
                    <a:p>
                      <a:r>
                        <a:rPr lang="en-US" sz="2400" dirty="0">
                          <a:latin typeface="Garamond" panose="02020404030301010803" pitchFamily="18" charset="0"/>
                        </a:rPr>
                        <a:t>36</a:t>
                      </a:r>
                    </a:p>
                  </a:txBody>
                  <a:tcPr/>
                </a:tc>
                <a:extLst>
                  <a:ext uri="{0D108BD9-81ED-4DB2-BD59-A6C34878D82A}">
                    <a16:rowId xmlns:a16="http://schemas.microsoft.com/office/drawing/2014/main" val="4041805925"/>
                  </a:ext>
                </a:extLst>
              </a:tr>
              <a:tr h="525780">
                <a:tc>
                  <a:txBody>
                    <a:bodyPr/>
                    <a:lstStyle/>
                    <a:p>
                      <a:r>
                        <a:rPr lang="en-US" sz="2400" dirty="0">
                          <a:latin typeface="Garamond" panose="02020404030301010803" pitchFamily="18" charset="0"/>
                        </a:rPr>
                        <a:t>NEGATIVE</a:t>
                      </a:r>
                    </a:p>
                  </a:txBody>
                  <a:tcPr/>
                </a:tc>
                <a:tc>
                  <a:txBody>
                    <a:bodyPr/>
                    <a:lstStyle/>
                    <a:p>
                      <a:r>
                        <a:rPr lang="en-US" sz="2400" dirty="0">
                          <a:latin typeface="Garamond" panose="02020404030301010803" pitchFamily="18" charset="0"/>
                        </a:rPr>
                        <a:t>90</a:t>
                      </a:r>
                    </a:p>
                  </a:txBody>
                  <a:tcPr/>
                </a:tc>
                <a:tc>
                  <a:txBody>
                    <a:bodyPr/>
                    <a:lstStyle/>
                    <a:p>
                      <a:r>
                        <a:rPr lang="en-US" sz="2400" dirty="0">
                          <a:latin typeface="Garamond" panose="02020404030301010803" pitchFamily="18" charset="0"/>
                        </a:rPr>
                        <a:t>171</a:t>
                      </a:r>
                    </a:p>
                  </a:txBody>
                  <a:tcPr/>
                </a:tc>
                <a:extLst>
                  <a:ext uri="{0D108BD9-81ED-4DB2-BD59-A6C34878D82A}">
                    <a16:rowId xmlns:a16="http://schemas.microsoft.com/office/drawing/2014/main" val="589438565"/>
                  </a:ext>
                </a:extLst>
              </a:tr>
            </a:tbl>
          </a:graphicData>
        </a:graphic>
      </p:graphicFrame>
      <p:sp>
        <p:nvSpPr>
          <p:cNvPr id="10" name="TextBox 9">
            <a:extLst>
              <a:ext uri="{FF2B5EF4-FFF2-40B4-BE49-F238E27FC236}">
                <a16:creationId xmlns:a16="http://schemas.microsoft.com/office/drawing/2014/main" id="{CA05BD4B-AABC-1FF6-B70F-1E8AE9D6A58A}"/>
              </a:ext>
            </a:extLst>
          </p:cNvPr>
          <p:cNvSpPr txBox="1"/>
          <p:nvPr/>
        </p:nvSpPr>
        <p:spPr>
          <a:xfrm>
            <a:off x="127625" y="4177450"/>
            <a:ext cx="4981270" cy="1477328"/>
          </a:xfrm>
          <a:prstGeom prst="rect">
            <a:avLst/>
          </a:prstGeom>
          <a:noFill/>
        </p:spPr>
        <p:txBody>
          <a:bodyPr wrap="square">
            <a:spAutoFit/>
          </a:bodyPr>
          <a:lstStyle/>
          <a:p>
            <a:pPr algn="ctr" latinLnBrk="1"/>
            <a:r>
              <a:rPr lang="en-US" b="1" dirty="0">
                <a:latin typeface="Garamond" panose="02020404030301010803" pitchFamily="18" charset="0"/>
              </a:rPr>
              <a:t>OUTPUT:</a:t>
            </a:r>
          </a:p>
          <a:p>
            <a:pPr algn="just" latinLnBrk="1"/>
            <a:r>
              <a:rPr lang="en-US" dirty="0">
                <a:latin typeface="Garamond" panose="02020404030301010803" pitchFamily="18" charset="0"/>
              </a:rPr>
              <a:t>The logistic regression model correctly predicts 66% of all cases. It catches 83% of actual fires but generates 90 false alarms. Best for overall accuracy when false alarms are acceptable.</a:t>
            </a:r>
          </a:p>
        </p:txBody>
      </p:sp>
      <p:pic>
        <p:nvPicPr>
          <p:cNvPr id="9" name="Picture 8">
            <a:extLst>
              <a:ext uri="{FF2B5EF4-FFF2-40B4-BE49-F238E27FC236}">
                <a16:creationId xmlns:a16="http://schemas.microsoft.com/office/drawing/2014/main" id="{17CBB5D8-A7C9-7535-5BFE-5E18CA5A03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4109" y="2173587"/>
            <a:ext cx="5074921" cy="4560263"/>
          </a:xfrm>
          <a:prstGeom prst="rect">
            <a:avLst/>
          </a:prstGeom>
        </p:spPr>
      </p:pic>
    </p:spTree>
    <p:extLst>
      <p:ext uri="{BB962C8B-B14F-4D97-AF65-F5344CB8AC3E}">
        <p14:creationId xmlns:p14="http://schemas.microsoft.com/office/powerpoint/2010/main" val="2431895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71192-1759-0360-10E9-454E61B49FBD}"/>
              </a:ext>
            </a:extLst>
          </p:cNvPr>
          <p:cNvSpPr>
            <a:spLocks noGrp="1"/>
          </p:cNvSpPr>
          <p:nvPr>
            <p:ph type="title"/>
          </p:nvPr>
        </p:nvSpPr>
        <p:spPr>
          <a:xfrm>
            <a:off x="745995" y="1326093"/>
            <a:ext cx="3935688" cy="1121538"/>
          </a:xfrm>
        </p:spPr>
        <p:txBody>
          <a:bodyPr>
            <a:normAutofit fontScale="90000"/>
          </a:bodyPr>
          <a:lstStyle/>
          <a:p>
            <a:r>
              <a:rPr lang="en-US" b="1" dirty="0">
                <a:latin typeface="Garamond" panose="02020404030301010803" pitchFamily="18" charset="0"/>
              </a:rPr>
              <a:t>Decision tree regression</a:t>
            </a:r>
            <a:br>
              <a:rPr lang="en-US" dirty="0">
                <a:latin typeface="Garamond" panose="02020404030301010803" pitchFamily="18" charset="0"/>
              </a:rPr>
            </a:br>
            <a:br>
              <a:rPr lang="en-US" dirty="0">
                <a:latin typeface="Garamond" panose="02020404030301010803" pitchFamily="18" charset="0"/>
              </a:rPr>
            </a:br>
            <a:endParaRPr lang="en-US" dirty="0">
              <a:latin typeface="Garamond" panose="02020404030301010803" pitchFamily="18" charset="0"/>
            </a:endParaRPr>
          </a:p>
        </p:txBody>
      </p:sp>
      <p:sp>
        <p:nvSpPr>
          <p:cNvPr id="4" name="Text Placeholder 3">
            <a:extLst>
              <a:ext uri="{FF2B5EF4-FFF2-40B4-BE49-F238E27FC236}">
                <a16:creationId xmlns:a16="http://schemas.microsoft.com/office/drawing/2014/main" id="{522E5C78-4CBC-3C1F-AD75-A719E7032835}"/>
              </a:ext>
            </a:extLst>
          </p:cNvPr>
          <p:cNvSpPr>
            <a:spLocks noGrp="1"/>
          </p:cNvSpPr>
          <p:nvPr>
            <p:ph type="body" sz="half" idx="2"/>
          </p:nvPr>
        </p:nvSpPr>
        <p:spPr>
          <a:xfrm>
            <a:off x="253998" y="1699261"/>
            <a:ext cx="4595463" cy="2971800"/>
          </a:xfrm>
        </p:spPr>
        <p:txBody>
          <a:bodyPr>
            <a:normAutofit/>
          </a:bodyPr>
          <a:lstStyle/>
          <a:p>
            <a:pPr marL="0" marR="0" algn="just">
              <a:lnSpc>
                <a:spcPct val="107000"/>
              </a:lnSpc>
              <a:spcBef>
                <a:spcPts val="0"/>
              </a:spcBef>
              <a:spcAft>
                <a:spcPts val="800"/>
              </a:spcAft>
            </a:pPr>
            <a:r>
              <a:rPr lang="en-US" sz="1800" b="1" kern="100" dirty="0">
                <a:effectLst/>
                <a:latin typeface="Garamond" panose="02020404030301010803" pitchFamily="18" charset="0"/>
                <a:ea typeface="Calibri" panose="020F0502020204030204" pitchFamily="34" charset="0"/>
                <a:cs typeface="Times New Roman" panose="02020603050405020304" pitchFamily="18" charset="0"/>
              </a:rPr>
              <a:t>Performance metrics</a:t>
            </a:r>
            <a:r>
              <a:rPr lang="en-US" sz="1800" b="1" kern="100" dirty="0">
                <a:latin typeface="Garamond" panose="02020404030301010803" pitchFamily="18" charset="0"/>
                <a:ea typeface="Calibri" panose="020F0502020204030204" pitchFamily="34" charset="0"/>
                <a:cs typeface="Times New Roman" panose="02020603050405020304" pitchFamily="18" charset="0"/>
              </a:rPr>
              <a:t> result</a:t>
            </a:r>
            <a:endParaRPr lang="en-US" sz="1800" kern="100" dirty="0">
              <a:effectLst/>
              <a:latin typeface="Garamond" panose="02020404030301010803" pitchFamily="18"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1800" b="1" kern="100" dirty="0">
                <a:effectLst/>
                <a:latin typeface="Garamond" panose="02020404030301010803" pitchFamily="18" charset="0"/>
                <a:ea typeface="Calibri" panose="020F0502020204030204" pitchFamily="34" charset="0"/>
                <a:cs typeface="Times New Roman" panose="02020603050405020304" pitchFamily="18" charset="0"/>
              </a:rPr>
              <a:t>Accuracy: </a:t>
            </a:r>
            <a:r>
              <a:rPr lang="en-US" sz="1800" kern="100" dirty="0">
                <a:effectLst/>
                <a:latin typeface="Garamond" panose="02020404030301010803" pitchFamily="18" charset="0"/>
                <a:ea typeface="Calibri" panose="020F0502020204030204" pitchFamily="34" charset="0"/>
                <a:cs typeface="Times New Roman" panose="02020603050405020304" pitchFamily="18" charset="0"/>
              </a:rPr>
              <a:t>63.9%</a:t>
            </a:r>
            <a:endParaRPr lang="en-US" sz="1800" kern="100" dirty="0">
              <a:latin typeface="Garamond" panose="02020404030301010803" pitchFamily="18"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1800" b="1" kern="100" dirty="0">
                <a:effectLst/>
                <a:latin typeface="Garamond" panose="02020404030301010803" pitchFamily="18" charset="0"/>
                <a:ea typeface="Calibri" panose="020F0502020204030204" pitchFamily="34" charset="0"/>
                <a:cs typeface="Times New Roman" panose="02020603050405020304" pitchFamily="18" charset="0"/>
              </a:rPr>
              <a:t>Sensitivity (Recall): </a:t>
            </a:r>
            <a:r>
              <a:rPr lang="en-US" sz="1800" kern="100" dirty="0">
                <a:effectLst/>
                <a:latin typeface="Garamond" panose="02020404030301010803" pitchFamily="18" charset="0"/>
                <a:ea typeface="Calibri" panose="020F0502020204030204" pitchFamily="34" charset="0"/>
                <a:cs typeface="Times New Roman" panose="02020603050405020304" pitchFamily="18" charset="0"/>
              </a:rPr>
              <a:t>86.5% </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1800" b="1" kern="100" dirty="0">
                <a:effectLst/>
                <a:latin typeface="Garamond" panose="02020404030301010803" pitchFamily="18" charset="0"/>
                <a:ea typeface="Calibri" panose="020F0502020204030204" pitchFamily="34" charset="0"/>
                <a:cs typeface="Times New Roman" panose="02020603050405020304" pitchFamily="18" charset="0"/>
              </a:rPr>
              <a:t>Specificity:</a:t>
            </a:r>
            <a:r>
              <a:rPr lang="en-US" sz="1800" kern="100" dirty="0">
                <a:effectLst/>
                <a:latin typeface="Garamond" panose="02020404030301010803" pitchFamily="18" charset="0"/>
                <a:ea typeface="Calibri" panose="020F0502020204030204" pitchFamily="34" charset="0"/>
                <a:cs typeface="Times New Roman" panose="02020603050405020304" pitchFamily="18" charset="0"/>
              </a:rPr>
              <a:t> 34.8%</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1800" b="1" kern="100" dirty="0">
                <a:effectLst/>
                <a:latin typeface="Garamond" panose="02020404030301010803" pitchFamily="18" charset="0"/>
                <a:ea typeface="Calibri" panose="020F0502020204030204" pitchFamily="34" charset="0"/>
                <a:cs typeface="Times New Roman" panose="02020603050405020304" pitchFamily="18" charset="0"/>
              </a:rPr>
              <a:t>ROC AUC: </a:t>
            </a:r>
            <a:r>
              <a:rPr lang="en-US" sz="1800" kern="100" dirty="0">
                <a:effectLst/>
                <a:latin typeface="Garamond" panose="02020404030301010803" pitchFamily="18" charset="0"/>
                <a:ea typeface="Calibri" panose="020F0502020204030204" pitchFamily="34" charset="0"/>
                <a:cs typeface="Times New Roman" panose="02020603050405020304" pitchFamily="18" charset="0"/>
              </a:rPr>
              <a:t>0.701</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endParaRPr lang="en-US" dirty="0">
              <a:latin typeface="Garamond" panose="02020404030301010803" pitchFamily="18" charset="0"/>
            </a:endParaRPr>
          </a:p>
        </p:txBody>
      </p:sp>
      <p:graphicFrame>
        <p:nvGraphicFramePr>
          <p:cNvPr id="5" name="Table 4">
            <a:extLst>
              <a:ext uri="{FF2B5EF4-FFF2-40B4-BE49-F238E27FC236}">
                <a16:creationId xmlns:a16="http://schemas.microsoft.com/office/drawing/2014/main" id="{C5583441-D335-B28D-37B1-0AA82B897492}"/>
              </a:ext>
            </a:extLst>
          </p:cNvPr>
          <p:cNvGraphicFramePr>
            <a:graphicFrameLocks noGrp="1"/>
          </p:cNvGraphicFramePr>
          <p:nvPr>
            <p:extLst>
              <p:ext uri="{D42A27DB-BD31-4B8C-83A1-F6EECF244321}">
                <p14:modId xmlns:p14="http://schemas.microsoft.com/office/powerpoint/2010/main" val="1164817211"/>
              </p:ext>
            </p:extLst>
          </p:nvPr>
        </p:nvGraphicFramePr>
        <p:xfrm>
          <a:off x="5341458" y="557532"/>
          <a:ext cx="6366981" cy="1577340"/>
        </p:xfrm>
        <a:graphic>
          <a:graphicData uri="http://schemas.openxmlformats.org/drawingml/2006/table">
            <a:tbl>
              <a:tblPr firstRow="1" bandRow="1">
                <a:tableStyleId>{5C22544A-7EE6-4342-B048-85BDC9FD1C3A}</a:tableStyleId>
              </a:tblPr>
              <a:tblGrid>
                <a:gridCol w="2122327">
                  <a:extLst>
                    <a:ext uri="{9D8B030D-6E8A-4147-A177-3AD203B41FA5}">
                      <a16:colId xmlns:a16="http://schemas.microsoft.com/office/drawing/2014/main" val="3601434795"/>
                    </a:ext>
                  </a:extLst>
                </a:gridCol>
                <a:gridCol w="2122327">
                  <a:extLst>
                    <a:ext uri="{9D8B030D-6E8A-4147-A177-3AD203B41FA5}">
                      <a16:colId xmlns:a16="http://schemas.microsoft.com/office/drawing/2014/main" val="2054355883"/>
                    </a:ext>
                  </a:extLst>
                </a:gridCol>
                <a:gridCol w="2122327">
                  <a:extLst>
                    <a:ext uri="{9D8B030D-6E8A-4147-A177-3AD203B41FA5}">
                      <a16:colId xmlns:a16="http://schemas.microsoft.com/office/drawing/2014/main" val="2269804400"/>
                    </a:ext>
                  </a:extLst>
                </a:gridCol>
              </a:tblGrid>
              <a:tr h="525780">
                <a:tc>
                  <a:txBody>
                    <a:bodyPr/>
                    <a:lstStyle/>
                    <a:p>
                      <a:r>
                        <a:rPr lang="en-US" sz="2400" dirty="0">
                          <a:latin typeface="Garamond" panose="02020404030301010803" pitchFamily="18" charset="0"/>
                        </a:rPr>
                        <a:t>Conf. Matrix</a:t>
                      </a:r>
                    </a:p>
                  </a:txBody>
                  <a:tcPr/>
                </a:tc>
                <a:tc>
                  <a:txBody>
                    <a:bodyPr/>
                    <a:lstStyle/>
                    <a:p>
                      <a:r>
                        <a:rPr lang="en-US" sz="2400" dirty="0">
                          <a:latin typeface="Garamond" panose="02020404030301010803" pitchFamily="18" charset="0"/>
                        </a:rPr>
                        <a:t>POSITIVE</a:t>
                      </a:r>
                    </a:p>
                  </a:txBody>
                  <a:tcPr/>
                </a:tc>
                <a:tc>
                  <a:txBody>
                    <a:bodyPr/>
                    <a:lstStyle/>
                    <a:p>
                      <a:r>
                        <a:rPr lang="en-US" sz="2400" dirty="0">
                          <a:latin typeface="Garamond" panose="02020404030301010803" pitchFamily="18" charset="0"/>
                        </a:rPr>
                        <a:t>NEGATIVE</a:t>
                      </a:r>
                    </a:p>
                  </a:txBody>
                  <a:tcPr/>
                </a:tc>
                <a:extLst>
                  <a:ext uri="{0D108BD9-81ED-4DB2-BD59-A6C34878D82A}">
                    <a16:rowId xmlns:a16="http://schemas.microsoft.com/office/drawing/2014/main" val="3091215264"/>
                  </a:ext>
                </a:extLst>
              </a:tr>
              <a:tr h="525780">
                <a:tc>
                  <a:txBody>
                    <a:bodyPr/>
                    <a:lstStyle/>
                    <a:p>
                      <a:r>
                        <a:rPr lang="en-US" sz="2400" dirty="0">
                          <a:latin typeface="Garamond" panose="02020404030301010803" pitchFamily="18" charset="0"/>
                        </a:rPr>
                        <a:t>POSITIVE</a:t>
                      </a:r>
                    </a:p>
                  </a:txBody>
                  <a:tcPr/>
                </a:tc>
                <a:tc>
                  <a:txBody>
                    <a:bodyPr/>
                    <a:lstStyle/>
                    <a:p>
                      <a:r>
                        <a:rPr lang="en-US" sz="2400" dirty="0">
                          <a:latin typeface="Garamond" panose="02020404030301010803" pitchFamily="18" charset="0"/>
                        </a:rPr>
                        <a:t>56</a:t>
                      </a:r>
                    </a:p>
                  </a:txBody>
                  <a:tcPr/>
                </a:tc>
                <a:tc>
                  <a:txBody>
                    <a:bodyPr/>
                    <a:lstStyle/>
                    <a:p>
                      <a:r>
                        <a:rPr lang="en-US" sz="2400" dirty="0">
                          <a:latin typeface="Garamond" panose="02020404030301010803" pitchFamily="18" charset="0"/>
                        </a:rPr>
                        <a:t>28</a:t>
                      </a:r>
                    </a:p>
                  </a:txBody>
                  <a:tcPr/>
                </a:tc>
                <a:extLst>
                  <a:ext uri="{0D108BD9-81ED-4DB2-BD59-A6C34878D82A}">
                    <a16:rowId xmlns:a16="http://schemas.microsoft.com/office/drawing/2014/main" val="4041805925"/>
                  </a:ext>
                </a:extLst>
              </a:tr>
              <a:tr h="525780">
                <a:tc>
                  <a:txBody>
                    <a:bodyPr/>
                    <a:lstStyle/>
                    <a:p>
                      <a:r>
                        <a:rPr lang="en-US" sz="2400" dirty="0">
                          <a:latin typeface="Garamond" panose="02020404030301010803" pitchFamily="18" charset="0"/>
                        </a:rPr>
                        <a:t>NEGATIVE</a:t>
                      </a:r>
                    </a:p>
                  </a:txBody>
                  <a:tcPr/>
                </a:tc>
                <a:tc>
                  <a:txBody>
                    <a:bodyPr/>
                    <a:lstStyle/>
                    <a:p>
                      <a:r>
                        <a:rPr lang="en-US" sz="2400" dirty="0">
                          <a:latin typeface="Garamond" panose="02020404030301010803" pitchFamily="18" charset="0"/>
                        </a:rPr>
                        <a:t>105</a:t>
                      </a:r>
                    </a:p>
                  </a:txBody>
                  <a:tcPr/>
                </a:tc>
                <a:tc>
                  <a:txBody>
                    <a:bodyPr/>
                    <a:lstStyle/>
                    <a:p>
                      <a:r>
                        <a:rPr lang="en-US" sz="2400" dirty="0">
                          <a:latin typeface="Garamond" panose="02020404030301010803" pitchFamily="18" charset="0"/>
                        </a:rPr>
                        <a:t>179</a:t>
                      </a:r>
                    </a:p>
                  </a:txBody>
                  <a:tcPr/>
                </a:tc>
                <a:extLst>
                  <a:ext uri="{0D108BD9-81ED-4DB2-BD59-A6C34878D82A}">
                    <a16:rowId xmlns:a16="http://schemas.microsoft.com/office/drawing/2014/main" val="589438565"/>
                  </a:ext>
                </a:extLst>
              </a:tr>
            </a:tbl>
          </a:graphicData>
        </a:graphic>
      </p:graphicFrame>
      <p:sp>
        <p:nvSpPr>
          <p:cNvPr id="8" name="TextBox 7">
            <a:extLst>
              <a:ext uri="{FF2B5EF4-FFF2-40B4-BE49-F238E27FC236}">
                <a16:creationId xmlns:a16="http://schemas.microsoft.com/office/drawing/2014/main" id="{DB45042A-E97D-2A5E-8976-F4A1B3DD2EB0}"/>
              </a:ext>
            </a:extLst>
          </p:cNvPr>
          <p:cNvSpPr txBox="1"/>
          <p:nvPr/>
        </p:nvSpPr>
        <p:spPr>
          <a:xfrm>
            <a:off x="126999" y="4448411"/>
            <a:ext cx="5191621" cy="1639103"/>
          </a:xfrm>
          <a:prstGeom prst="rect">
            <a:avLst/>
          </a:prstGeom>
          <a:noFill/>
        </p:spPr>
        <p:txBody>
          <a:bodyPr wrap="square">
            <a:spAutoFit/>
          </a:bodyPr>
          <a:lstStyle/>
          <a:p>
            <a:pPr algn="just" latinLnBrk="1"/>
            <a:r>
              <a:rPr lang="en-US" sz="1400" b="1" kern="100" dirty="0">
                <a:latin typeface="Garamond" panose="02020404030301010803" pitchFamily="18" charset="0"/>
                <a:ea typeface="Calibri" panose="020F0502020204030204" pitchFamily="34" charset="0"/>
                <a:cs typeface="Times New Roman" panose="02020603050405020304" pitchFamily="18" charset="0"/>
              </a:rPr>
              <a:t>OUTPUT</a:t>
            </a:r>
            <a:r>
              <a:rPr lang="en-US" sz="1400" kern="100" dirty="0">
                <a:latin typeface="Garamond" panose="02020404030301010803" pitchFamily="18" charset="0"/>
                <a:ea typeface="Calibri" panose="020F0502020204030204" pitchFamily="34" charset="0"/>
                <a:cs typeface="Times New Roman" panose="02020603050405020304" pitchFamily="18" charset="0"/>
              </a:rPr>
              <a:t>:</a:t>
            </a:r>
            <a:br>
              <a:rPr lang="en-US" sz="1400" kern="100" dirty="0">
                <a:latin typeface="Garamond" panose="02020404030301010803" pitchFamily="18" charset="0"/>
                <a:ea typeface="Calibri" panose="020F0502020204030204" pitchFamily="34" charset="0"/>
                <a:cs typeface="Times New Roman" panose="02020603050405020304" pitchFamily="18" charset="0"/>
              </a:rPr>
            </a:br>
            <a:r>
              <a:rPr lang="en-US" dirty="0">
                <a:latin typeface="Garamond" panose="02020404030301010803" pitchFamily="18" charset="0"/>
              </a:rPr>
              <a:t>The decision tree catches the most fires (86.5%) but has the highest false alarm rate (105). It has the best AUC (0.701), making it the strongest model for distinguishing fire from no-fire conditions.</a:t>
            </a:r>
          </a:p>
          <a:p>
            <a:pPr marL="0" marR="0">
              <a:lnSpc>
                <a:spcPct val="107000"/>
              </a:lnSpc>
              <a:spcBef>
                <a:spcPts val="0"/>
              </a:spcBef>
              <a:spcAft>
                <a:spcPts val="800"/>
              </a:spcAft>
            </a:pPr>
            <a:endParaRPr lang="en-US" sz="1400" kern="100" dirty="0">
              <a:effectLst/>
              <a:latin typeface="Garamond" panose="02020404030301010803" pitchFamily="18" charset="0"/>
              <a:ea typeface="Calibri" panose="020F0502020204030204" pitchFamily="34" charset="0"/>
              <a:cs typeface="Times New Roman" panose="02020603050405020304" pitchFamily="18" charset="0"/>
            </a:endParaRPr>
          </a:p>
        </p:txBody>
      </p:sp>
      <p:pic>
        <p:nvPicPr>
          <p:cNvPr id="10" name="Picture 9">
            <a:extLst>
              <a:ext uri="{FF2B5EF4-FFF2-40B4-BE49-F238E27FC236}">
                <a16:creationId xmlns:a16="http://schemas.microsoft.com/office/drawing/2014/main" id="{7DBCE8B1-3674-A31C-12BA-3F7329E457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2134872"/>
            <a:ext cx="5103339" cy="4585798"/>
          </a:xfrm>
          <a:prstGeom prst="rect">
            <a:avLst/>
          </a:prstGeom>
        </p:spPr>
      </p:pic>
    </p:spTree>
    <p:extLst>
      <p:ext uri="{BB962C8B-B14F-4D97-AF65-F5344CB8AC3E}">
        <p14:creationId xmlns:p14="http://schemas.microsoft.com/office/powerpoint/2010/main" val="2556739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53E8A-884D-91E2-41D5-74403C1214DE}"/>
              </a:ext>
            </a:extLst>
          </p:cNvPr>
          <p:cNvSpPr>
            <a:spLocks noGrp="1"/>
          </p:cNvSpPr>
          <p:nvPr>
            <p:ph type="title"/>
          </p:nvPr>
        </p:nvSpPr>
        <p:spPr>
          <a:xfrm>
            <a:off x="2120587" y="533400"/>
            <a:ext cx="7950825" cy="1270000"/>
          </a:xfrm>
        </p:spPr>
        <p:txBody>
          <a:bodyPr/>
          <a:lstStyle/>
          <a:p>
            <a:r>
              <a:rPr lang="en-US" dirty="0">
                <a:latin typeface="Garamond" panose="02020404030301010803" pitchFamily="18" charset="0"/>
              </a:rPr>
              <a:t>PREDICTING DECISION TREE OUTCOME</a:t>
            </a:r>
          </a:p>
        </p:txBody>
      </p:sp>
      <p:pic>
        <p:nvPicPr>
          <p:cNvPr id="7" name="Content Placeholder 6">
            <a:extLst>
              <a:ext uri="{FF2B5EF4-FFF2-40B4-BE49-F238E27FC236}">
                <a16:creationId xmlns:a16="http://schemas.microsoft.com/office/drawing/2014/main" id="{70E7C87F-C707-098F-28AE-952781AFEC77}"/>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rcRect t="10945"/>
          <a:stretch>
            <a:fillRect/>
          </a:stretch>
        </p:blipFill>
        <p:spPr>
          <a:xfrm>
            <a:off x="830509" y="1728133"/>
            <a:ext cx="10628851" cy="5050172"/>
          </a:xfrm>
        </p:spPr>
      </p:pic>
    </p:spTree>
    <p:extLst>
      <p:ext uri="{BB962C8B-B14F-4D97-AF65-F5344CB8AC3E}">
        <p14:creationId xmlns:p14="http://schemas.microsoft.com/office/powerpoint/2010/main" val="1766755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2AEB1-51AD-9674-2842-6AACF458FCC0}"/>
              </a:ext>
            </a:extLst>
          </p:cNvPr>
          <p:cNvSpPr>
            <a:spLocks noGrp="1"/>
          </p:cNvSpPr>
          <p:nvPr>
            <p:ph type="title"/>
          </p:nvPr>
        </p:nvSpPr>
        <p:spPr>
          <a:xfrm>
            <a:off x="729217" y="1683041"/>
            <a:ext cx="3935688" cy="748717"/>
          </a:xfrm>
        </p:spPr>
        <p:txBody>
          <a:bodyPr>
            <a:normAutofit fontScale="90000"/>
          </a:bodyPr>
          <a:lstStyle/>
          <a:p>
            <a:br>
              <a:rPr lang="en-US" dirty="0"/>
            </a:br>
            <a:br>
              <a:rPr lang="en-US" dirty="0"/>
            </a:br>
            <a:br>
              <a:rPr lang="en-US" dirty="0"/>
            </a:br>
            <a:br>
              <a:rPr lang="en-US" dirty="0"/>
            </a:br>
            <a:br>
              <a:rPr lang="en-US" dirty="0"/>
            </a:br>
            <a:br>
              <a:rPr lang="en-US" dirty="0"/>
            </a:br>
            <a:br>
              <a:rPr lang="en-US" dirty="0"/>
            </a:br>
            <a:r>
              <a:rPr lang="en-US" b="1" dirty="0">
                <a:latin typeface="Garamond" panose="02020404030301010803" pitchFamily="18" charset="0"/>
              </a:rPr>
              <a:t>RANDOM FOREST regression</a:t>
            </a:r>
            <a:br>
              <a:rPr lang="en-US" dirty="0"/>
            </a:br>
            <a:br>
              <a:rPr lang="en-US" dirty="0"/>
            </a:br>
            <a:endParaRPr lang="en-US" dirty="0"/>
          </a:p>
        </p:txBody>
      </p:sp>
      <p:sp>
        <p:nvSpPr>
          <p:cNvPr id="3" name="Content Placeholder 2">
            <a:extLst>
              <a:ext uri="{FF2B5EF4-FFF2-40B4-BE49-F238E27FC236}">
                <a16:creationId xmlns:a16="http://schemas.microsoft.com/office/drawing/2014/main" id="{7C9D5399-67C4-5B2A-EC96-9F45663DFBF7}"/>
              </a:ext>
            </a:extLst>
          </p:cNvPr>
          <p:cNvSpPr>
            <a:spLocks noGrp="1"/>
          </p:cNvSpPr>
          <p:nvPr>
            <p:ph sz="quarter" idx="13"/>
          </p:nvPr>
        </p:nvSpPr>
        <p:spPr>
          <a:xfrm>
            <a:off x="144943" y="4169328"/>
            <a:ext cx="5660239" cy="1543575"/>
          </a:xfrm>
        </p:spPr>
        <p:txBody>
          <a:bodyPr>
            <a:normAutofit fontScale="92500" lnSpcReduction="10000"/>
          </a:bodyPr>
          <a:lstStyle/>
          <a:p>
            <a:pPr marL="0" indent="0" algn="ctr">
              <a:buNone/>
            </a:pPr>
            <a:r>
              <a:rPr lang="en-US" sz="1800" b="1" kern="100" dirty="0">
                <a:effectLst/>
                <a:latin typeface="Garamond" panose="02020404030301010803" pitchFamily="18" charset="0"/>
                <a:ea typeface="Calibri" panose="020F0502020204030204" pitchFamily="34" charset="0"/>
                <a:cs typeface="Times New Roman" panose="02020603050405020304" pitchFamily="18" charset="0"/>
              </a:rPr>
              <a:t>OUTPUT: </a:t>
            </a:r>
            <a:endParaRPr lang="en-US" sz="1800" kern="100" dirty="0">
              <a:effectLst/>
              <a:latin typeface="Garamond" panose="02020404030301010803" pitchFamily="18" charset="0"/>
              <a:ea typeface="Calibri" panose="020F0502020204030204" pitchFamily="34" charset="0"/>
              <a:cs typeface="Times New Roman" panose="02020603050405020304" pitchFamily="18" charset="0"/>
            </a:endParaRPr>
          </a:p>
          <a:p>
            <a:pPr latinLnBrk="1"/>
            <a:r>
              <a:rPr lang="en-US" dirty="0">
                <a:latin typeface="Garamond" panose="02020404030301010803" pitchFamily="18" charset="0"/>
              </a:rPr>
              <a:t>The random forest has the lowest false alarm rate (74) and the highest specificity (54.0%). However, it catches the fewest fires (69.6%). Best when avoiding false alarms is the priority.</a:t>
            </a:r>
          </a:p>
          <a:p>
            <a:pPr marL="0" indent="0" algn="just">
              <a:buNone/>
            </a:pPr>
            <a:endParaRPr lang="en-US" sz="1800" kern="100" dirty="0">
              <a:effectLst/>
              <a:latin typeface="Garamond" panose="02020404030301010803" pitchFamily="18" charset="0"/>
              <a:ea typeface="Calibri" panose="020F0502020204030204" pitchFamily="34" charset="0"/>
              <a:cs typeface="Times New Roman" panose="02020603050405020304" pitchFamily="18" charset="0"/>
            </a:endParaRPr>
          </a:p>
        </p:txBody>
      </p:sp>
      <p:sp>
        <p:nvSpPr>
          <p:cNvPr id="4" name="Text Placeholder 3">
            <a:extLst>
              <a:ext uri="{FF2B5EF4-FFF2-40B4-BE49-F238E27FC236}">
                <a16:creationId xmlns:a16="http://schemas.microsoft.com/office/drawing/2014/main" id="{BBF58A3E-E2D4-B1B4-7460-43F99154852F}"/>
              </a:ext>
            </a:extLst>
          </p:cNvPr>
          <p:cNvSpPr>
            <a:spLocks noGrp="1"/>
          </p:cNvSpPr>
          <p:nvPr>
            <p:ph type="body" sz="half" idx="2"/>
          </p:nvPr>
        </p:nvSpPr>
        <p:spPr>
          <a:xfrm>
            <a:off x="254000" y="2057400"/>
            <a:ext cx="4680309" cy="2111928"/>
          </a:xfrm>
        </p:spPr>
        <p:txBody>
          <a:bodyPr>
            <a:normAutofit/>
          </a:bodyPr>
          <a:lstStyle/>
          <a:p>
            <a:pPr algn="just">
              <a:lnSpc>
                <a:spcPct val="107000"/>
              </a:lnSpc>
              <a:spcBef>
                <a:spcPts val="0"/>
              </a:spcBef>
              <a:spcAft>
                <a:spcPts val="800"/>
              </a:spcAft>
            </a:pPr>
            <a:r>
              <a:rPr lang="en-US" b="1" kern="100" dirty="0">
                <a:latin typeface="Garamond" panose="02020404030301010803" pitchFamily="18" charset="0"/>
                <a:ea typeface="Calibri" panose="020F0502020204030204" pitchFamily="34" charset="0"/>
                <a:cs typeface="Times New Roman" panose="02020603050405020304" pitchFamily="18" charset="0"/>
              </a:rPr>
              <a:t>Performance metrics result</a:t>
            </a:r>
            <a:endParaRPr lang="en-US" kern="100" dirty="0">
              <a:latin typeface="Garamond" panose="02020404030301010803" pitchFamily="18"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b="1" kern="100" dirty="0">
                <a:latin typeface="Garamond" panose="02020404030301010803" pitchFamily="18" charset="0"/>
                <a:ea typeface="Calibri" panose="020F0502020204030204" pitchFamily="34" charset="0"/>
                <a:cs typeface="Times New Roman" panose="02020603050405020304" pitchFamily="18" charset="0"/>
              </a:rPr>
              <a:t>Accuracy: </a:t>
            </a:r>
            <a:r>
              <a:rPr lang="en-US" kern="100" dirty="0">
                <a:latin typeface="Garamond" panose="02020404030301010803" pitchFamily="18" charset="0"/>
                <a:ea typeface="Calibri" panose="020F0502020204030204" pitchFamily="34" charset="0"/>
                <a:cs typeface="Times New Roman" panose="02020603050405020304" pitchFamily="18" charset="0"/>
              </a:rPr>
              <a:t>62.8%</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b="1" kern="100" dirty="0">
                <a:latin typeface="Garamond" panose="02020404030301010803" pitchFamily="18" charset="0"/>
                <a:ea typeface="Calibri" panose="020F0502020204030204" pitchFamily="34" charset="0"/>
                <a:cs typeface="Times New Roman" panose="02020603050405020304" pitchFamily="18" charset="0"/>
              </a:rPr>
              <a:t>Sensitivity (Recall): </a:t>
            </a:r>
            <a:r>
              <a:rPr lang="en-US" kern="100" dirty="0">
                <a:latin typeface="Garamond" panose="02020404030301010803" pitchFamily="18" charset="0"/>
                <a:ea typeface="Calibri" panose="020F0502020204030204" pitchFamily="34" charset="0"/>
                <a:cs typeface="Times New Roman" panose="02020603050405020304" pitchFamily="18" charset="0"/>
              </a:rPr>
              <a:t>69.6% </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b="1" kern="100" dirty="0">
                <a:latin typeface="Garamond" panose="02020404030301010803" pitchFamily="18" charset="0"/>
                <a:ea typeface="Calibri" panose="020F0502020204030204" pitchFamily="34" charset="0"/>
                <a:cs typeface="Times New Roman" panose="02020603050405020304" pitchFamily="18" charset="0"/>
              </a:rPr>
              <a:t>Specificity:</a:t>
            </a:r>
            <a:r>
              <a:rPr lang="en-US" kern="100" dirty="0">
                <a:latin typeface="Garamond" panose="02020404030301010803" pitchFamily="18" charset="0"/>
                <a:ea typeface="Calibri" panose="020F0502020204030204" pitchFamily="34" charset="0"/>
                <a:cs typeface="Times New Roman" panose="02020603050405020304" pitchFamily="18" charset="0"/>
              </a:rPr>
              <a:t> 54%</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b="1" kern="100" dirty="0">
                <a:latin typeface="Garamond" panose="02020404030301010803" pitchFamily="18" charset="0"/>
                <a:ea typeface="Calibri" panose="020F0502020204030204" pitchFamily="34" charset="0"/>
                <a:cs typeface="Times New Roman" panose="02020603050405020304" pitchFamily="18" charset="0"/>
              </a:rPr>
              <a:t>ROC AUC: </a:t>
            </a:r>
            <a:r>
              <a:rPr lang="en-US" kern="100" dirty="0">
                <a:latin typeface="Garamond" panose="02020404030301010803" pitchFamily="18" charset="0"/>
                <a:ea typeface="Calibri" panose="020F0502020204030204" pitchFamily="34" charset="0"/>
                <a:cs typeface="Times New Roman" panose="02020603050405020304" pitchFamily="18" charset="0"/>
              </a:rPr>
              <a:t>0.670</a:t>
            </a:r>
          </a:p>
        </p:txBody>
      </p:sp>
      <p:graphicFrame>
        <p:nvGraphicFramePr>
          <p:cNvPr id="5" name="Table 4">
            <a:extLst>
              <a:ext uri="{FF2B5EF4-FFF2-40B4-BE49-F238E27FC236}">
                <a16:creationId xmlns:a16="http://schemas.microsoft.com/office/drawing/2014/main" id="{1539C282-7851-90DE-A750-1D7621E9950A}"/>
              </a:ext>
            </a:extLst>
          </p:cNvPr>
          <p:cNvGraphicFramePr>
            <a:graphicFrameLocks noGrp="1"/>
          </p:cNvGraphicFramePr>
          <p:nvPr>
            <p:extLst>
              <p:ext uri="{D42A27DB-BD31-4B8C-83A1-F6EECF244321}">
                <p14:modId xmlns:p14="http://schemas.microsoft.com/office/powerpoint/2010/main" val="3311559584"/>
              </p:ext>
            </p:extLst>
          </p:nvPr>
        </p:nvGraphicFramePr>
        <p:xfrm>
          <a:off x="5612234" y="557532"/>
          <a:ext cx="6096204" cy="1577340"/>
        </p:xfrm>
        <a:graphic>
          <a:graphicData uri="http://schemas.openxmlformats.org/drawingml/2006/table">
            <a:tbl>
              <a:tblPr firstRow="1" bandRow="1">
                <a:tableStyleId>{5C22544A-7EE6-4342-B048-85BDC9FD1C3A}</a:tableStyleId>
              </a:tblPr>
              <a:tblGrid>
                <a:gridCol w="2032068">
                  <a:extLst>
                    <a:ext uri="{9D8B030D-6E8A-4147-A177-3AD203B41FA5}">
                      <a16:colId xmlns:a16="http://schemas.microsoft.com/office/drawing/2014/main" val="3601434795"/>
                    </a:ext>
                  </a:extLst>
                </a:gridCol>
                <a:gridCol w="2032068">
                  <a:extLst>
                    <a:ext uri="{9D8B030D-6E8A-4147-A177-3AD203B41FA5}">
                      <a16:colId xmlns:a16="http://schemas.microsoft.com/office/drawing/2014/main" val="2054355883"/>
                    </a:ext>
                  </a:extLst>
                </a:gridCol>
                <a:gridCol w="2032068">
                  <a:extLst>
                    <a:ext uri="{9D8B030D-6E8A-4147-A177-3AD203B41FA5}">
                      <a16:colId xmlns:a16="http://schemas.microsoft.com/office/drawing/2014/main" val="2269804400"/>
                    </a:ext>
                  </a:extLst>
                </a:gridCol>
              </a:tblGrid>
              <a:tr h="525780">
                <a:tc>
                  <a:txBody>
                    <a:bodyPr/>
                    <a:lstStyle/>
                    <a:p>
                      <a:r>
                        <a:rPr lang="en-US" sz="2400" dirty="0">
                          <a:latin typeface="Garamond" panose="02020404030301010803" pitchFamily="18" charset="0"/>
                        </a:rPr>
                        <a:t>Conf. Matrix</a:t>
                      </a:r>
                    </a:p>
                  </a:txBody>
                  <a:tcPr/>
                </a:tc>
                <a:tc>
                  <a:txBody>
                    <a:bodyPr/>
                    <a:lstStyle/>
                    <a:p>
                      <a:r>
                        <a:rPr lang="en-US" sz="2400" dirty="0">
                          <a:latin typeface="Garamond" panose="02020404030301010803" pitchFamily="18" charset="0"/>
                        </a:rPr>
                        <a:t>POSITIVE</a:t>
                      </a:r>
                    </a:p>
                  </a:txBody>
                  <a:tcPr/>
                </a:tc>
                <a:tc>
                  <a:txBody>
                    <a:bodyPr/>
                    <a:lstStyle/>
                    <a:p>
                      <a:r>
                        <a:rPr lang="en-US" sz="2400" dirty="0">
                          <a:latin typeface="Garamond" panose="02020404030301010803" pitchFamily="18" charset="0"/>
                        </a:rPr>
                        <a:t>NEGATIVE</a:t>
                      </a:r>
                    </a:p>
                  </a:txBody>
                  <a:tcPr/>
                </a:tc>
                <a:extLst>
                  <a:ext uri="{0D108BD9-81ED-4DB2-BD59-A6C34878D82A}">
                    <a16:rowId xmlns:a16="http://schemas.microsoft.com/office/drawing/2014/main" val="3091215264"/>
                  </a:ext>
                </a:extLst>
              </a:tr>
              <a:tr h="525780">
                <a:tc>
                  <a:txBody>
                    <a:bodyPr/>
                    <a:lstStyle/>
                    <a:p>
                      <a:r>
                        <a:rPr lang="en-US" sz="2400" dirty="0">
                          <a:latin typeface="Garamond" panose="02020404030301010803" pitchFamily="18" charset="0"/>
                        </a:rPr>
                        <a:t>POSITIVE</a:t>
                      </a:r>
                    </a:p>
                  </a:txBody>
                  <a:tcPr/>
                </a:tc>
                <a:tc>
                  <a:txBody>
                    <a:bodyPr/>
                    <a:lstStyle/>
                    <a:p>
                      <a:r>
                        <a:rPr lang="en-US" sz="2400" dirty="0">
                          <a:latin typeface="Garamond" panose="02020404030301010803" pitchFamily="18" charset="0"/>
                        </a:rPr>
                        <a:t>87</a:t>
                      </a:r>
                    </a:p>
                  </a:txBody>
                  <a:tcPr/>
                </a:tc>
                <a:tc>
                  <a:txBody>
                    <a:bodyPr/>
                    <a:lstStyle/>
                    <a:p>
                      <a:r>
                        <a:rPr lang="en-US" sz="2400" dirty="0">
                          <a:latin typeface="Garamond" panose="02020404030301010803" pitchFamily="18" charset="0"/>
                        </a:rPr>
                        <a:t>63</a:t>
                      </a:r>
                    </a:p>
                  </a:txBody>
                  <a:tcPr/>
                </a:tc>
                <a:extLst>
                  <a:ext uri="{0D108BD9-81ED-4DB2-BD59-A6C34878D82A}">
                    <a16:rowId xmlns:a16="http://schemas.microsoft.com/office/drawing/2014/main" val="4041805925"/>
                  </a:ext>
                </a:extLst>
              </a:tr>
              <a:tr h="525780">
                <a:tc>
                  <a:txBody>
                    <a:bodyPr/>
                    <a:lstStyle/>
                    <a:p>
                      <a:r>
                        <a:rPr lang="en-US" sz="2400" dirty="0">
                          <a:latin typeface="Garamond" panose="02020404030301010803" pitchFamily="18" charset="0"/>
                        </a:rPr>
                        <a:t>NEGATIVE</a:t>
                      </a:r>
                    </a:p>
                  </a:txBody>
                  <a:tcPr/>
                </a:tc>
                <a:tc>
                  <a:txBody>
                    <a:bodyPr/>
                    <a:lstStyle/>
                    <a:p>
                      <a:r>
                        <a:rPr lang="en-US" sz="2400" dirty="0">
                          <a:latin typeface="Garamond" panose="02020404030301010803" pitchFamily="18" charset="0"/>
                        </a:rPr>
                        <a:t>74</a:t>
                      </a:r>
                    </a:p>
                  </a:txBody>
                  <a:tcPr/>
                </a:tc>
                <a:tc>
                  <a:txBody>
                    <a:bodyPr/>
                    <a:lstStyle/>
                    <a:p>
                      <a:r>
                        <a:rPr lang="en-US" sz="2400" dirty="0">
                          <a:latin typeface="Garamond" panose="02020404030301010803" pitchFamily="18" charset="0"/>
                        </a:rPr>
                        <a:t>144</a:t>
                      </a:r>
                    </a:p>
                  </a:txBody>
                  <a:tcPr/>
                </a:tc>
                <a:extLst>
                  <a:ext uri="{0D108BD9-81ED-4DB2-BD59-A6C34878D82A}">
                    <a16:rowId xmlns:a16="http://schemas.microsoft.com/office/drawing/2014/main" val="589438565"/>
                  </a:ext>
                </a:extLst>
              </a:tr>
            </a:tbl>
          </a:graphicData>
        </a:graphic>
      </p:graphicFrame>
      <p:pic>
        <p:nvPicPr>
          <p:cNvPr id="9" name="Picture 8">
            <a:extLst>
              <a:ext uri="{FF2B5EF4-FFF2-40B4-BE49-F238E27FC236}">
                <a16:creationId xmlns:a16="http://schemas.microsoft.com/office/drawing/2014/main" id="{E24F51CA-9757-4A8E-2C07-A3329C7302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0399" y="2229657"/>
            <a:ext cx="5150685" cy="4628343"/>
          </a:xfrm>
          <a:prstGeom prst="rect">
            <a:avLst/>
          </a:prstGeom>
        </p:spPr>
      </p:pic>
    </p:spTree>
    <p:extLst>
      <p:ext uri="{BB962C8B-B14F-4D97-AF65-F5344CB8AC3E}">
        <p14:creationId xmlns:p14="http://schemas.microsoft.com/office/powerpoint/2010/main" val="3765150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976BF0B-7581-E2A6-32EE-BC18C8E73D0E}"/>
              </a:ext>
            </a:extLst>
          </p:cNvPr>
          <p:cNvSpPr>
            <a:spLocks noGrp="1"/>
          </p:cNvSpPr>
          <p:nvPr>
            <p:ph type="title"/>
          </p:nvPr>
        </p:nvSpPr>
        <p:spPr>
          <a:xfrm>
            <a:off x="1100676" y="937554"/>
            <a:ext cx="9720072" cy="656355"/>
          </a:xfrm>
        </p:spPr>
        <p:txBody>
          <a:bodyPr>
            <a:normAutofit fontScale="90000"/>
          </a:bodyPr>
          <a:lstStyle/>
          <a:p>
            <a:r>
              <a:rPr lang="en-US" b="1" dirty="0">
                <a:latin typeface="Garamond" panose="02020404030301010803" pitchFamily="18" charset="0"/>
              </a:rPr>
              <a:t>SUMMARY</a:t>
            </a:r>
          </a:p>
        </p:txBody>
      </p:sp>
      <p:sp>
        <p:nvSpPr>
          <p:cNvPr id="10" name="Content Placeholder 2">
            <a:extLst>
              <a:ext uri="{FF2B5EF4-FFF2-40B4-BE49-F238E27FC236}">
                <a16:creationId xmlns:a16="http://schemas.microsoft.com/office/drawing/2014/main" id="{B5E7CA25-7F1C-A038-7A91-C673B369BC18}"/>
              </a:ext>
            </a:extLst>
          </p:cNvPr>
          <p:cNvSpPr>
            <a:spLocks noGrp="1"/>
          </p:cNvSpPr>
          <p:nvPr>
            <p:ph sz="quarter" idx="13"/>
          </p:nvPr>
        </p:nvSpPr>
        <p:spPr>
          <a:xfrm>
            <a:off x="1024128" y="1939254"/>
            <a:ext cx="5569620" cy="3424107"/>
          </a:xfrm>
        </p:spPr>
        <p:txBody>
          <a:bodyPr>
            <a:normAutofit fontScale="92500" lnSpcReduction="20000"/>
          </a:bodyPr>
          <a:lstStyle/>
          <a:p>
            <a:pPr algn="just"/>
            <a:r>
              <a:rPr lang="en-US" dirty="0">
                <a:latin typeface="Garamond" panose="02020404030301010803" pitchFamily="18" charset="0"/>
              </a:rPr>
              <a:t>Three predictive models were developed to forecast forest fires using weather and fuel moisture data. The Decision Tree model proved most effective, detecting 86.5% of all fires, the highest among all models tested.</a:t>
            </a:r>
            <a:endParaRPr lang="en-GH" dirty="0">
              <a:latin typeface="Garamond" panose="02020404030301010803" pitchFamily="18" charset="0"/>
            </a:endParaRPr>
          </a:p>
          <a:p>
            <a:pPr lvl="0" algn="just"/>
            <a:r>
              <a:rPr lang="en-US" b="1" dirty="0">
                <a:latin typeface="Garamond" panose="02020404030301010803" pitchFamily="18" charset="0"/>
              </a:rPr>
              <a:t>KEY FINDINGS:</a:t>
            </a:r>
            <a:endParaRPr lang="en-GH" b="1" dirty="0">
              <a:latin typeface="Garamond" panose="02020404030301010803" pitchFamily="18" charset="0"/>
            </a:endParaRPr>
          </a:p>
          <a:p>
            <a:pPr lvl="0" algn="just"/>
            <a:r>
              <a:rPr lang="en-US" dirty="0">
                <a:latin typeface="Garamond" panose="02020404030301010803" pitchFamily="18" charset="0"/>
              </a:rPr>
              <a:t>The most dangerous conditions for forest fires are:</a:t>
            </a:r>
            <a:endParaRPr lang="en-GH" dirty="0">
              <a:latin typeface="Garamond" panose="02020404030301010803" pitchFamily="18" charset="0"/>
            </a:endParaRPr>
          </a:p>
          <a:p>
            <a:pPr lvl="0" algn="just"/>
            <a:r>
              <a:rPr lang="en-US" dirty="0">
                <a:latin typeface="Garamond" panose="02020404030301010803" pitchFamily="18" charset="0"/>
              </a:rPr>
              <a:t>• High wind speed (strongest predictor)</a:t>
            </a:r>
            <a:endParaRPr lang="en-GH" dirty="0">
              <a:latin typeface="Garamond" panose="02020404030301010803" pitchFamily="18" charset="0"/>
            </a:endParaRPr>
          </a:p>
          <a:p>
            <a:pPr lvl="0" algn="just"/>
            <a:r>
              <a:rPr lang="en-US" dirty="0">
                <a:latin typeface="Garamond" panose="02020404030301010803" pitchFamily="18" charset="0"/>
              </a:rPr>
              <a:t>• Low fuel moisture (FFMC)</a:t>
            </a:r>
            <a:endParaRPr lang="en-GH" dirty="0">
              <a:latin typeface="Garamond" panose="02020404030301010803" pitchFamily="18" charset="0"/>
            </a:endParaRPr>
          </a:p>
          <a:p>
            <a:pPr lvl="0" algn="just"/>
            <a:r>
              <a:rPr lang="en-US" dirty="0">
                <a:latin typeface="Garamond" panose="02020404030301010803" pitchFamily="18" charset="0"/>
              </a:rPr>
              <a:t>• High temperatures</a:t>
            </a:r>
            <a:endParaRPr lang="en-GH" dirty="0">
              <a:latin typeface="Garamond" panose="02020404030301010803" pitchFamily="18" charset="0"/>
            </a:endParaRPr>
          </a:p>
          <a:p>
            <a:endParaRPr lang="en-GH" dirty="0"/>
          </a:p>
        </p:txBody>
      </p:sp>
      <p:sp>
        <p:nvSpPr>
          <p:cNvPr id="12" name="TextBox 11">
            <a:extLst>
              <a:ext uri="{FF2B5EF4-FFF2-40B4-BE49-F238E27FC236}">
                <a16:creationId xmlns:a16="http://schemas.microsoft.com/office/drawing/2014/main" id="{010D1950-B0FD-7659-08B4-8367FD01ADC9}"/>
              </a:ext>
            </a:extLst>
          </p:cNvPr>
          <p:cNvSpPr txBox="1"/>
          <p:nvPr/>
        </p:nvSpPr>
        <p:spPr>
          <a:xfrm>
            <a:off x="6803471" y="2837835"/>
            <a:ext cx="5108896" cy="1831207"/>
          </a:xfrm>
          <a:prstGeom prst="rect">
            <a:avLst/>
          </a:prstGeom>
          <a:noFill/>
        </p:spPr>
        <p:txBody>
          <a:bodyPr wrap="square">
            <a:spAutoFit/>
          </a:bodyPr>
          <a:lstStyle/>
          <a:p>
            <a:pPr>
              <a:lnSpc>
                <a:spcPct val="107000"/>
              </a:lnSpc>
              <a:spcAft>
                <a:spcPts val="800"/>
              </a:spcAft>
              <a:buNone/>
            </a:pPr>
            <a:r>
              <a:rPr lang="en-US" sz="2000" b="1" kern="100" dirty="0">
                <a:effectLst/>
                <a:latin typeface="Garamond" panose="02020404030301010803" pitchFamily="18" charset="0"/>
                <a:ea typeface="DengXian" panose="02010600030101010101" pitchFamily="2" charset="-122"/>
                <a:cs typeface="Times New Roman" panose="02020603050405020304" pitchFamily="18" charset="0"/>
              </a:rPr>
              <a:t>CONCLUSION:</a:t>
            </a:r>
            <a:endParaRPr lang="en-GH" sz="2000" b="1" kern="100" dirty="0">
              <a:effectLst/>
              <a:latin typeface="Garamond" panose="02020404030301010803" pitchFamily="18" charset="0"/>
              <a:ea typeface="DengXian" panose="02010600030101010101" pitchFamily="2" charset="-122"/>
              <a:cs typeface="Times New Roman" panose="02020603050405020304" pitchFamily="18" charset="0"/>
            </a:endParaRPr>
          </a:p>
          <a:p>
            <a:pPr algn="just">
              <a:lnSpc>
                <a:spcPct val="107000"/>
              </a:lnSpc>
              <a:spcAft>
                <a:spcPts val="800"/>
              </a:spcAft>
              <a:buNone/>
            </a:pPr>
            <a:r>
              <a:rPr lang="en-US" sz="2000" kern="100" dirty="0">
                <a:effectLst/>
                <a:latin typeface="Garamond" panose="02020404030301010803" pitchFamily="18" charset="0"/>
                <a:ea typeface="DengXian" panose="02010600030101010101" pitchFamily="2" charset="-122"/>
                <a:cs typeface="Times New Roman" panose="02020603050405020304" pitchFamily="18" charset="0"/>
              </a:rPr>
              <a:t>Adopting this predictive system can reduce fire damage by alerting authorities before conditions become dangerous, saving forests, property, and lives.</a:t>
            </a:r>
            <a:endParaRPr lang="en-GH" sz="2000" kern="100" dirty="0">
              <a:effectLst/>
              <a:latin typeface="Garamond" panose="02020404030301010803" pitchFamily="18"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50730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2BF82-8C4E-7D40-C7EC-6B0B81F3642A}"/>
              </a:ext>
            </a:extLst>
          </p:cNvPr>
          <p:cNvSpPr>
            <a:spLocks noGrp="1"/>
          </p:cNvSpPr>
          <p:nvPr>
            <p:ph type="title"/>
          </p:nvPr>
        </p:nvSpPr>
        <p:spPr>
          <a:xfrm>
            <a:off x="881515" y="830510"/>
            <a:ext cx="10980518" cy="1019430"/>
          </a:xfrm>
        </p:spPr>
        <p:txBody>
          <a:bodyPr>
            <a:normAutofit fontScale="90000"/>
          </a:bodyPr>
          <a:lstStyle/>
          <a:p>
            <a:r>
              <a:rPr lang="en-US" sz="4400" b="1" dirty="0">
                <a:latin typeface="Garamond" panose="02020404030301010803" pitchFamily="18" charset="0"/>
              </a:rPr>
              <a:t>RECOMMENDATIONS TO THE COUNTRY</a:t>
            </a:r>
            <a:endParaRPr lang="en-GH" dirty="0"/>
          </a:p>
        </p:txBody>
      </p:sp>
      <p:sp>
        <p:nvSpPr>
          <p:cNvPr id="5" name="TextBox 4">
            <a:extLst>
              <a:ext uri="{FF2B5EF4-FFF2-40B4-BE49-F238E27FC236}">
                <a16:creationId xmlns:a16="http://schemas.microsoft.com/office/drawing/2014/main" id="{4FFD5153-CA90-7B3F-712B-7AED65BCC88D}"/>
              </a:ext>
            </a:extLst>
          </p:cNvPr>
          <p:cNvSpPr txBox="1"/>
          <p:nvPr/>
        </p:nvSpPr>
        <p:spPr>
          <a:xfrm>
            <a:off x="771787" y="2296272"/>
            <a:ext cx="5324214" cy="3139321"/>
          </a:xfrm>
          <a:prstGeom prst="rect">
            <a:avLst/>
          </a:prstGeom>
          <a:noFill/>
        </p:spPr>
        <p:txBody>
          <a:bodyPr wrap="square" numCol="1">
            <a:spAutoFit/>
          </a:bodyPr>
          <a:lstStyle/>
          <a:p>
            <a:pPr lvl="0"/>
            <a:r>
              <a:rPr lang="en-US" b="1" dirty="0">
                <a:latin typeface="Garamond" panose="02020404030301010803" pitchFamily="18" charset="0"/>
              </a:rPr>
              <a:t>1. EARLY WARNING SYSTEM</a:t>
            </a:r>
            <a:endParaRPr lang="en-GH" dirty="0">
              <a:latin typeface="Garamond" panose="02020404030301010803" pitchFamily="18" charset="0"/>
            </a:endParaRPr>
          </a:p>
          <a:p>
            <a:pPr lvl="0"/>
            <a:r>
              <a:rPr lang="en-US" dirty="0">
                <a:latin typeface="Garamond" panose="02020404030301010803" pitchFamily="18" charset="0"/>
              </a:rPr>
              <a:t> Deploy the Decision Tree model as a national early warning system. It will alert authorities when fire risk is high.</a:t>
            </a:r>
          </a:p>
          <a:p>
            <a:pPr lvl="0"/>
            <a:endParaRPr lang="en-GH" dirty="0">
              <a:latin typeface="Garamond" panose="02020404030301010803" pitchFamily="18" charset="0"/>
            </a:endParaRPr>
          </a:p>
          <a:p>
            <a:pPr lvl="0"/>
            <a:r>
              <a:rPr lang="en-US" b="1" dirty="0">
                <a:latin typeface="Garamond" panose="02020404030301010803" pitchFamily="18" charset="0"/>
              </a:rPr>
              <a:t>2. RESOURCE ALLOCATION</a:t>
            </a:r>
            <a:endParaRPr lang="en-GH" dirty="0">
              <a:latin typeface="Garamond" panose="02020404030301010803" pitchFamily="18" charset="0"/>
            </a:endParaRPr>
          </a:p>
          <a:p>
            <a:pPr lvl="0"/>
            <a:r>
              <a:rPr lang="en-US" dirty="0">
                <a:latin typeface="Garamond" panose="02020404030301010803" pitchFamily="18" charset="0"/>
              </a:rPr>
              <a:t>   Concentrate firefighting resources on days with:</a:t>
            </a:r>
            <a:endParaRPr lang="en-GH" dirty="0">
              <a:latin typeface="Garamond" panose="02020404030301010803" pitchFamily="18" charset="0"/>
            </a:endParaRPr>
          </a:p>
          <a:p>
            <a:pPr lvl="0"/>
            <a:r>
              <a:rPr lang="en-US" dirty="0">
                <a:latin typeface="Garamond" panose="02020404030301010803" pitchFamily="18" charset="0"/>
              </a:rPr>
              <a:t>   Wind speeds above 5 km/h</a:t>
            </a:r>
            <a:endParaRPr lang="en-GH" dirty="0">
              <a:latin typeface="Garamond" panose="02020404030301010803" pitchFamily="18" charset="0"/>
            </a:endParaRPr>
          </a:p>
          <a:p>
            <a:pPr lvl="0"/>
            <a:r>
              <a:rPr lang="en-US" dirty="0">
                <a:latin typeface="Garamond" panose="02020404030301010803" pitchFamily="18" charset="0"/>
              </a:rPr>
              <a:t>   Temperatures above 25°C</a:t>
            </a:r>
            <a:endParaRPr lang="en-GH" dirty="0">
              <a:latin typeface="Garamond" panose="02020404030301010803" pitchFamily="18" charset="0"/>
            </a:endParaRPr>
          </a:p>
          <a:p>
            <a:pPr lvl="0"/>
            <a:r>
              <a:rPr lang="en-US" dirty="0">
                <a:latin typeface="Garamond" panose="02020404030301010803" pitchFamily="18" charset="0"/>
              </a:rPr>
              <a:t>   Low rainfall in the preceding week</a:t>
            </a:r>
            <a:endParaRPr lang="en-GH" dirty="0">
              <a:latin typeface="Garamond" panose="02020404030301010803" pitchFamily="18" charset="0"/>
            </a:endParaRPr>
          </a:p>
          <a:p>
            <a:pPr marL="342900" lvl="0" indent="-342900">
              <a:spcAft>
                <a:spcPts val="800"/>
              </a:spcAft>
              <a:buFont typeface="Tw Cen MT" panose="020B0602020104020603" pitchFamily="34" charset="0"/>
              <a:buChar char=" "/>
              <a:tabLst>
                <a:tab pos="457200" algn="l"/>
              </a:tabLst>
            </a:pPr>
            <a:endParaRPr lang="en-GH" sz="1800" kern="100" dirty="0">
              <a:effectLst/>
              <a:latin typeface="Garamond" panose="02020404030301010803" pitchFamily="18" charset="0"/>
              <a:ea typeface="DengXian" panose="02010600030101010101" pitchFamily="2" charset="-122"/>
              <a:cs typeface="Times New Roman" panose="02020603050405020304" pitchFamily="18" charset="0"/>
            </a:endParaRPr>
          </a:p>
        </p:txBody>
      </p:sp>
      <p:sp>
        <p:nvSpPr>
          <p:cNvPr id="9" name="TextBox 8">
            <a:extLst>
              <a:ext uri="{FF2B5EF4-FFF2-40B4-BE49-F238E27FC236}">
                <a16:creationId xmlns:a16="http://schemas.microsoft.com/office/drawing/2014/main" id="{A312E4D7-7AA7-5B0F-84F9-7D8D5C9605D8}"/>
              </a:ext>
            </a:extLst>
          </p:cNvPr>
          <p:cNvSpPr txBox="1"/>
          <p:nvPr/>
        </p:nvSpPr>
        <p:spPr>
          <a:xfrm>
            <a:off x="6371774" y="2296272"/>
            <a:ext cx="5167618" cy="2031325"/>
          </a:xfrm>
          <a:prstGeom prst="rect">
            <a:avLst/>
          </a:prstGeom>
          <a:noFill/>
        </p:spPr>
        <p:txBody>
          <a:bodyPr wrap="square">
            <a:spAutoFit/>
          </a:bodyPr>
          <a:lstStyle/>
          <a:p>
            <a:pPr algn="just"/>
            <a:r>
              <a:rPr lang="en-US" b="1" dirty="0">
                <a:latin typeface="Garamond" panose="02020404030301010803" pitchFamily="18" charset="0"/>
              </a:rPr>
              <a:t>3. PUBLIC AWARENESS</a:t>
            </a:r>
          </a:p>
          <a:p>
            <a:pPr algn="just"/>
            <a:r>
              <a:rPr lang="en-US" dirty="0">
                <a:latin typeface="Garamond" panose="02020404030301010803" pitchFamily="18" charset="0"/>
              </a:rPr>
              <a:t>Issue public warnings when the model predicts high fire risk, especially during dry, windy, and hot conditions.</a:t>
            </a:r>
          </a:p>
          <a:p>
            <a:pPr algn="just"/>
            <a:endParaRPr lang="en-GH" dirty="0">
              <a:latin typeface="Garamond" panose="02020404030301010803" pitchFamily="18" charset="0"/>
            </a:endParaRPr>
          </a:p>
          <a:p>
            <a:pPr algn="just"/>
            <a:r>
              <a:rPr lang="en-US" b="1" dirty="0">
                <a:latin typeface="Garamond" panose="02020404030301010803" pitchFamily="18" charset="0"/>
              </a:rPr>
              <a:t>4. PREVENTIVE ACTIONS</a:t>
            </a:r>
            <a:endParaRPr lang="en-GH" b="1" dirty="0">
              <a:latin typeface="Garamond" panose="02020404030301010803" pitchFamily="18" charset="0"/>
            </a:endParaRPr>
          </a:p>
          <a:p>
            <a:pPr algn="just"/>
            <a:r>
              <a:rPr lang="en-US" dirty="0">
                <a:latin typeface="Garamond" panose="02020404030301010803" pitchFamily="18" charset="0"/>
              </a:rPr>
              <a:t>Implement controlled burns and firebreaks before high-risk periods identified by the model.</a:t>
            </a:r>
            <a:endParaRPr lang="en-GH" dirty="0">
              <a:latin typeface="Garamond" panose="02020404030301010803" pitchFamily="18" charset="0"/>
            </a:endParaRPr>
          </a:p>
        </p:txBody>
      </p:sp>
    </p:spTree>
    <p:extLst>
      <p:ext uri="{BB962C8B-B14F-4D97-AF65-F5344CB8AC3E}">
        <p14:creationId xmlns:p14="http://schemas.microsoft.com/office/powerpoint/2010/main" val="239496773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152</TotalTime>
  <Words>648</Words>
  <Application>Microsoft Office PowerPoint</Application>
  <PresentationFormat>Widescreen</PresentationFormat>
  <Paragraphs>107</Paragraphs>
  <Slides>10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Calibri</vt:lpstr>
      <vt:lpstr>Garamond</vt:lpstr>
      <vt:lpstr>Symbol</vt:lpstr>
      <vt:lpstr>Tw Cen MT</vt:lpstr>
      <vt:lpstr>Tw Cen MT Condensed</vt:lpstr>
      <vt:lpstr>Wingdings 3</vt:lpstr>
      <vt:lpstr>Integral</vt:lpstr>
      <vt:lpstr>Data science with R</vt:lpstr>
      <vt:lpstr> ALGERIA FOREST FIRES PROJECT </vt:lpstr>
      <vt:lpstr>DATA PREPARATION, PRE-PROCESSING, AND FEATURE SELECTION</vt:lpstr>
      <vt:lpstr>The models implemented in the project</vt:lpstr>
      <vt:lpstr>LOGISTICS REGRESSION </vt:lpstr>
      <vt:lpstr>Decision tree regression  </vt:lpstr>
      <vt:lpstr>PREDICTING DECISION TREE OUTCOME</vt:lpstr>
      <vt:lpstr>       RANDOM FOREST regression  </vt:lpstr>
      <vt:lpstr>SUMMARY</vt:lpstr>
      <vt:lpstr>RECOMMENDATIONS TO THE COUNTRY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Felix Owusu</dc:creator>
  <cp:lastModifiedBy>Felix Owusu-Ansah</cp:lastModifiedBy>
  <cp:revision>4</cp:revision>
  <dcterms:created xsi:type="dcterms:W3CDTF">2024-08-02T13:58:02Z</dcterms:created>
  <dcterms:modified xsi:type="dcterms:W3CDTF">2026-04-17T01:45:08Z</dcterms:modified>
</cp:coreProperties>
</file>